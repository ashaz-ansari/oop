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7" r:id="rId36"/>
    <p:sldId id="264" r:id="rId37"/>
    <p:sldId id="265" r:id="rId38"/>
    <p:sldId id="266" r:id="rId39"/>
    <p:sldId id="267" r:id="rId40"/>
    <p:sldId id="268" r:id="rId41"/>
    <p:sldId id="269" r:id="rId42"/>
    <p:sldId id="270" r:id="rId43"/>
    <p:sldId id="271" r:id="rId44"/>
    <p:sldId id="272" r:id="rId45"/>
    <p:sldId id="308" r:id="rId46"/>
    <p:sldId id="310" r:id="rId47"/>
    <p:sldId id="309" r:id="rId48"/>
    <p:sldId id="311" r:id="rId49"/>
    <p:sldId id="273" r:id="rId50"/>
    <p:sldId id="274" r:id="rId51"/>
    <p:sldId id="275" r:id="rId52"/>
    <p:sldId id="276"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6</a:t>
            </a:r>
            <a:endParaRPr lang="en-US" dirty="0"/>
          </a:p>
        </p:txBody>
      </p:sp>
      <p:sp>
        <p:nvSpPr>
          <p:cNvPr id="3" name="Subtitle 2"/>
          <p:cNvSpPr>
            <a:spLocks noGrp="1"/>
          </p:cNvSpPr>
          <p:nvPr>
            <p:ph type="subTitle" idx="1"/>
          </p:nvPr>
        </p:nvSpPr>
        <p:spPr/>
        <p:txBody>
          <a:bodyPr/>
          <a:lstStyle/>
          <a:p>
            <a:r>
              <a:rPr lang="en-US" dirty="0"/>
              <a:t> FILES AND EXCEPTION HANDLING in </a:t>
            </a:r>
            <a:r>
              <a:rPr lang="en-US" dirty="0" err="1"/>
              <a:t>c++</a:t>
            </a:r>
            <a:endParaRPr lang="en-US" dirty="0"/>
          </a:p>
        </p:txBody>
      </p:sp>
    </p:spTree>
    <p:extLst>
      <p:ext uri="{BB962C8B-B14F-4D97-AF65-F5344CB8AC3E}">
        <p14:creationId xmlns:p14="http://schemas.microsoft.com/office/powerpoint/2010/main" val="2989259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494085"/>
          </a:xfrm>
          <a:prstGeom prst="rect">
            <a:avLst/>
          </a:prstGeom>
        </p:spPr>
        <p:txBody>
          <a:bodyPr wrap="square">
            <a:spAutoFit/>
          </a:bodyPr>
          <a:lstStyle/>
          <a:p>
            <a:r>
              <a:rPr lang="en-US" sz="2000" b="1" dirty="0">
                <a:latin typeface="Times New Roman" pitchFamily="18" charset="0"/>
                <a:cs typeface="Times New Roman" pitchFamily="18" charset="0"/>
              </a:rPr>
              <a:t>C++ Streams and Stream </a:t>
            </a:r>
            <a:r>
              <a:rPr lang="en-US" sz="2000" b="1" dirty="0" smtClean="0">
                <a:latin typeface="Times New Roman" pitchFamily="18" charset="0"/>
                <a:cs typeface="Times New Roman" pitchFamily="18" charset="0"/>
              </a:rPr>
              <a:t>Classes:</a:t>
            </a:r>
            <a:endParaRPr lang="en-US" sz="2000" b="1" dirty="0">
              <a:latin typeface="Times New Roman" pitchFamily="18" charset="0"/>
              <a:cs typeface="Times New Roman" pitchFamily="18" charset="0"/>
            </a:endParaRPr>
          </a:p>
          <a:p>
            <a:r>
              <a:rPr lang="en-US" sz="2000" dirty="0">
                <a:latin typeface="Times New Roman" pitchFamily="18" charset="0"/>
                <a:cs typeface="Times New Roman" pitchFamily="18" charset="0"/>
              </a:rPr>
              <a:t>1. Introduction to </a:t>
            </a:r>
            <a:r>
              <a:rPr lang="en-US" sz="2000" dirty="0" smtClean="0">
                <a:latin typeface="Times New Roman" pitchFamily="18" charset="0"/>
                <a:cs typeface="Times New Roman" pitchFamily="18" charset="0"/>
              </a:rPr>
              <a:t>Streams:</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 </a:t>
            </a:r>
            <a:r>
              <a:rPr lang="en-US" sz="2000" dirty="0">
                <a:latin typeface="Times New Roman" pitchFamily="18" charset="0"/>
                <a:cs typeface="Times New Roman" pitchFamily="18" charset="0"/>
              </a:rPr>
              <a:t>stream in C++ is simply a flow of data.</a:t>
            </a:r>
          </a:p>
          <a:p>
            <a:endParaRPr lang="en-US" sz="2000" dirty="0">
              <a:latin typeface="Times New Roman" pitchFamily="18" charset="0"/>
              <a:cs typeface="Times New Roman" pitchFamily="18" charset="0"/>
            </a:endParaRPr>
          </a:p>
          <a:p>
            <a:pPr marL="342900" indent="-342900">
              <a:buFont typeface="Arial" pitchFamily="34" charset="0"/>
              <a:buChar char="•"/>
            </a:pPr>
            <a:r>
              <a:rPr lang="en-US" sz="2000" b="1" dirty="0">
                <a:latin typeface="Times New Roman" pitchFamily="18" charset="0"/>
                <a:cs typeface="Times New Roman" pitchFamily="18" charset="0"/>
              </a:rPr>
              <a:t>Input Stream </a:t>
            </a:r>
            <a:r>
              <a:rPr lang="en-US" sz="2000" dirty="0">
                <a:latin typeface="Times New Roman" pitchFamily="18" charset="0"/>
                <a:cs typeface="Times New Roman" pitchFamily="18" charset="0"/>
              </a:rPr>
              <a:t>→ Data flows from input device (keyboard, file) → program.</a:t>
            </a:r>
          </a:p>
          <a:p>
            <a:pPr marL="342900" indent="-342900">
              <a:buFont typeface="Arial" pitchFamily="34" charset="0"/>
              <a:buChar char="•"/>
            </a:pPr>
            <a:endParaRPr lang="en-US" sz="2000" dirty="0">
              <a:latin typeface="Times New Roman" pitchFamily="18" charset="0"/>
              <a:cs typeface="Times New Roman" pitchFamily="18" charset="0"/>
            </a:endParaRPr>
          </a:p>
          <a:p>
            <a:pPr marL="342900" indent="-342900">
              <a:buFont typeface="Arial" pitchFamily="34" charset="0"/>
              <a:buChar char="•"/>
            </a:pPr>
            <a:r>
              <a:rPr lang="en-US" sz="2000" b="1" dirty="0">
                <a:latin typeface="Times New Roman" pitchFamily="18" charset="0"/>
                <a:cs typeface="Times New Roman" pitchFamily="18" charset="0"/>
              </a:rPr>
              <a:t>Output Stream </a:t>
            </a:r>
            <a:r>
              <a:rPr lang="en-US" sz="2000" dirty="0">
                <a:latin typeface="Times New Roman" pitchFamily="18" charset="0"/>
                <a:cs typeface="Times New Roman" pitchFamily="18" charset="0"/>
              </a:rPr>
              <a:t>→ Data flows from program → output device (screen, file).</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Think of a stream like a “pipeline” that carries characters or bytes between program and devices.</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2. Standard I/O Streams in C</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 provides 4 standard I/O streams automatically:</a:t>
            </a:r>
          </a:p>
          <a:p>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Stream </a:t>
            </a:r>
            <a:r>
              <a:rPr lang="en-US" sz="2000" b="1" dirty="0" smtClean="0">
                <a:latin typeface="Times New Roman" pitchFamily="18" charset="0"/>
                <a:cs typeface="Times New Roman" pitchFamily="18" charset="0"/>
              </a:rPr>
              <a:t>Object</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	Type</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	Purpose</a:t>
            </a:r>
            <a:endParaRPr lang="en-US" sz="2000" b="1" dirty="0">
              <a:latin typeface="Times New Roman" pitchFamily="18" charset="0"/>
              <a:cs typeface="Times New Roman" pitchFamily="18" charset="0"/>
            </a:endParaRPr>
          </a:p>
          <a:p>
            <a:r>
              <a:rPr lang="en-US" sz="2000" dirty="0" err="1">
                <a:latin typeface="Times New Roman" pitchFamily="18" charset="0"/>
                <a:cs typeface="Times New Roman" pitchFamily="18" charset="0"/>
              </a:rPr>
              <a:t>cin</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istream</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Standard input (</a:t>
            </a:r>
            <a:r>
              <a:rPr lang="en-US" sz="2000" dirty="0">
                <a:latin typeface="Times New Roman" pitchFamily="18" charset="0"/>
                <a:cs typeface="Times New Roman" pitchFamily="18" charset="0"/>
              </a:rPr>
              <a:t>keyboard)</a:t>
            </a:r>
          </a:p>
          <a:p>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ostream</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Standard output (</a:t>
            </a:r>
            <a:r>
              <a:rPr lang="en-US" sz="2000" dirty="0">
                <a:latin typeface="Times New Roman" pitchFamily="18" charset="0"/>
                <a:cs typeface="Times New Roman" pitchFamily="18" charset="0"/>
              </a:rPr>
              <a:t>screen)</a:t>
            </a:r>
          </a:p>
          <a:p>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ostream</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Standard error (</a:t>
            </a:r>
            <a:r>
              <a:rPr lang="en-US" dirty="0" err="1">
                <a:latin typeface="Times New Roman" pitchFamily="18" charset="0"/>
                <a:cs typeface="Times New Roman" pitchFamily="18" charset="0"/>
              </a:rPr>
              <a:t>unbuffered</a:t>
            </a:r>
            <a:r>
              <a:rPr lang="en-US" dirty="0">
                <a:latin typeface="Times New Roman" pitchFamily="18" charset="0"/>
                <a:cs typeface="Times New Roman" pitchFamily="18" charset="0"/>
              </a:rPr>
              <a:t> error output)</a:t>
            </a:r>
          </a:p>
          <a:p>
            <a:r>
              <a:rPr lang="en-US" sz="2000" dirty="0">
                <a:latin typeface="Times New Roman" pitchFamily="18" charset="0"/>
                <a:cs typeface="Times New Roman" pitchFamily="18" charset="0"/>
              </a:rPr>
              <a:t>clog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ostream</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Standard </a:t>
            </a:r>
            <a:r>
              <a:rPr lang="en-US" sz="2000" dirty="0">
                <a:latin typeface="Times New Roman" pitchFamily="18" charset="0"/>
                <a:cs typeface="Times New Roman" pitchFamily="18" charset="0"/>
              </a:rPr>
              <a:t>error </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buffered log messages)</a:t>
            </a:r>
          </a:p>
        </p:txBody>
      </p:sp>
    </p:spTree>
    <p:extLst>
      <p:ext uri="{BB962C8B-B14F-4D97-AF65-F5344CB8AC3E}">
        <p14:creationId xmlns:p14="http://schemas.microsoft.com/office/powerpoint/2010/main" val="9544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382000" cy="4678204"/>
          </a:xfrm>
          <a:prstGeom prst="rect">
            <a:avLst/>
          </a:prstGeom>
        </p:spPr>
        <p:txBody>
          <a:bodyPr wrap="square">
            <a:spAutoFit/>
          </a:bodyPr>
          <a:lstStyle/>
          <a:p>
            <a:r>
              <a:rPr lang="en-US" sz="2000" b="1" dirty="0">
                <a:latin typeface="Times New Roman" pitchFamily="18" charset="0"/>
                <a:cs typeface="Times New Roman" pitchFamily="18" charset="0"/>
              </a:rPr>
              <a:t>Example:</a:t>
            </a:r>
          </a:p>
          <a:p>
            <a:endParaRPr lang="en-US" sz="2000"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&gt;</a:t>
            </a:r>
          </a:p>
          <a:p>
            <a:pPr lvl="1"/>
            <a:r>
              <a:rPr lang="en-US" sz="2000" dirty="0">
                <a:latin typeface="Times New Roman" pitchFamily="18" charset="0"/>
                <a:cs typeface="Times New Roman" pitchFamily="18" charset="0"/>
              </a:rPr>
              <a:t>using namespace </a:t>
            </a:r>
            <a:r>
              <a:rPr lang="en-US" sz="2000" dirty="0" err="1">
                <a:latin typeface="Times New Roman" pitchFamily="18" charset="0"/>
                <a:cs typeface="Times New Roman" pitchFamily="18" charset="0"/>
              </a:rPr>
              <a:t>std</a:t>
            </a:r>
            <a:r>
              <a:rPr lang="en-US" sz="2000" dirty="0">
                <a:latin typeface="Times New Roman" pitchFamily="18" charset="0"/>
                <a:cs typeface="Times New Roman" pitchFamily="18" charset="0"/>
              </a:rPr>
              <a:t>;</a:t>
            </a:r>
          </a:p>
          <a:p>
            <a:pPr lvl="1"/>
            <a:endParaRPr lang="en-US" sz="2000" dirty="0">
              <a:latin typeface="Times New Roman" pitchFamily="18" charset="0"/>
              <a:cs typeface="Times New Roman" pitchFamily="18" charset="0"/>
            </a:endParaRPr>
          </a:p>
          <a:p>
            <a:pPr lvl="1"/>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pPr lvl="1"/>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age;</a:t>
            </a:r>
          </a:p>
          <a:p>
            <a:pPr lvl="1"/>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"Enter your age: ";  // output stream</a:t>
            </a:r>
          </a:p>
          <a:p>
            <a:pPr lvl="1"/>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cin</a:t>
            </a:r>
            <a:r>
              <a:rPr lang="en-US" sz="2000" dirty="0">
                <a:latin typeface="Times New Roman" pitchFamily="18" charset="0"/>
                <a:cs typeface="Times New Roman" pitchFamily="18" charset="0"/>
              </a:rPr>
              <a:t> &gt;&gt; age;                  // input stream</a:t>
            </a:r>
          </a:p>
          <a:p>
            <a:pPr lvl="1"/>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"You are " &lt;&lt; age &lt;&lt; " years old."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pPr lvl="1"/>
            <a:endParaRPr lang="en-US" sz="2000"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&lt;&lt; "This is an error message."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pPr lvl="1"/>
            <a:r>
              <a:rPr lang="en-US" sz="2000" dirty="0">
                <a:latin typeface="Times New Roman" pitchFamily="18" charset="0"/>
                <a:cs typeface="Times New Roman" pitchFamily="18" charset="0"/>
              </a:rPr>
              <a:t>    clog &lt;&lt; "This is a log message."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pPr lvl="1"/>
            <a:r>
              <a:rPr lang="en-US" sz="2000" dirty="0">
                <a:latin typeface="Times New Roman" pitchFamily="18" charset="0"/>
                <a:cs typeface="Times New Roman" pitchFamily="18" charset="0"/>
              </a:rPr>
              <a:t>    return 0;</a:t>
            </a:r>
          </a:p>
          <a:p>
            <a:pPr lvl="1"/>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1080069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891" y="152400"/>
            <a:ext cx="8915400" cy="4524315"/>
          </a:xfrm>
          <a:prstGeom prst="rect">
            <a:avLst/>
          </a:prstGeom>
        </p:spPr>
        <p:txBody>
          <a:bodyPr wrap="square">
            <a:spAutoFit/>
          </a:bodyPr>
          <a:lstStyle/>
          <a:p>
            <a:r>
              <a:rPr lang="en-US" b="1" dirty="0">
                <a:latin typeface="Times New Roman" pitchFamily="18" charset="0"/>
                <a:cs typeface="Times New Roman" pitchFamily="18" charset="0"/>
              </a:rPr>
              <a:t>Stream Classes in C</a:t>
            </a:r>
            <a:r>
              <a:rPr lang="en-US" b="1" dirty="0" smtClean="0">
                <a:latin typeface="Times New Roman" pitchFamily="18" charset="0"/>
                <a:cs typeface="Times New Roman" pitchFamily="18" charset="0"/>
              </a:rPr>
              <a:t>++ :</a:t>
            </a:r>
            <a:endParaRPr lang="en-US"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All streams in C++ are implemented using classes from the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 and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 libraries.</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Important </a:t>
            </a:r>
            <a:r>
              <a:rPr lang="en-US" dirty="0">
                <a:latin typeface="Times New Roman" pitchFamily="18" charset="0"/>
                <a:cs typeface="Times New Roman" pitchFamily="18" charset="0"/>
              </a:rPr>
              <a:t>Stream </a:t>
            </a:r>
            <a:r>
              <a:rPr lang="en-US" dirty="0" smtClean="0">
                <a:latin typeface="Times New Roman" pitchFamily="18" charset="0"/>
                <a:cs typeface="Times New Roman" pitchFamily="18" charset="0"/>
              </a:rPr>
              <a:t>Classes: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Class	</a:t>
            </a:r>
            <a:r>
              <a:rPr lang="en-US" b="1" dirty="0" smtClean="0">
                <a:latin typeface="Times New Roman" pitchFamily="18" charset="0"/>
                <a:cs typeface="Times New Roman" pitchFamily="18" charset="0"/>
              </a:rPr>
              <a:t>	Description</a:t>
            </a:r>
            <a:endParaRPr lang="en-US" b="1" dirty="0">
              <a:latin typeface="Times New Roman" pitchFamily="18" charset="0"/>
              <a:cs typeface="Times New Roman" pitchFamily="18" charset="0"/>
            </a:endParaRP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Base </a:t>
            </a:r>
            <a:r>
              <a:rPr lang="en-US" dirty="0">
                <a:latin typeface="Times New Roman" pitchFamily="18" charset="0"/>
                <a:cs typeface="Times New Roman" pitchFamily="18" charset="0"/>
              </a:rPr>
              <a:t>class for all stream classes.</a:t>
            </a:r>
          </a:p>
          <a:p>
            <a:r>
              <a:rPr lang="en-US" dirty="0" err="1">
                <a:latin typeface="Times New Roman" pitchFamily="18" charset="0"/>
                <a:cs typeface="Times New Roman" pitchFamily="18" charset="0"/>
              </a:rPr>
              <a:t>istream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Input </a:t>
            </a:r>
            <a:r>
              <a:rPr lang="en-US" dirty="0">
                <a:latin typeface="Times New Roman" pitchFamily="18" charset="0"/>
                <a:cs typeface="Times New Roman" pitchFamily="18" charset="0"/>
              </a:rPr>
              <a:t>stream class (used by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ostream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Output </a:t>
            </a:r>
            <a:r>
              <a:rPr lang="en-US" dirty="0">
                <a:latin typeface="Times New Roman" pitchFamily="18" charset="0"/>
                <a:cs typeface="Times New Roman" pitchFamily="18" charset="0"/>
              </a:rPr>
              <a:t>stream class (used by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cerr</a:t>
            </a:r>
            <a:r>
              <a:rPr lang="en-US" dirty="0">
                <a:latin typeface="Times New Roman" pitchFamily="18" charset="0"/>
                <a:cs typeface="Times New Roman" pitchFamily="18" charset="0"/>
              </a:rPr>
              <a:t>, clog).</a:t>
            </a:r>
          </a:p>
          <a:p>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Derived </a:t>
            </a:r>
            <a:r>
              <a:rPr lang="en-US" dirty="0">
                <a:latin typeface="Times New Roman" pitchFamily="18" charset="0"/>
                <a:cs typeface="Times New Roman" pitchFamily="18" charset="0"/>
              </a:rPr>
              <a:t>from both </a:t>
            </a:r>
            <a:r>
              <a:rPr lang="en-US" dirty="0" err="1">
                <a:latin typeface="Times New Roman" pitchFamily="18" charset="0"/>
                <a:cs typeface="Times New Roman" pitchFamily="18" charset="0"/>
              </a:rPr>
              <a:t>istream</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ostream</a:t>
            </a:r>
            <a:r>
              <a:rPr lang="en-US" dirty="0">
                <a:latin typeface="Times New Roman" pitchFamily="18" charset="0"/>
                <a:cs typeface="Times New Roman" pitchFamily="18" charset="0"/>
              </a:rPr>
              <a:t> (used for both input &amp; output).</a:t>
            </a:r>
          </a:p>
          <a:p>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Input </a:t>
            </a:r>
            <a:r>
              <a:rPr lang="en-US" dirty="0">
                <a:latin typeface="Times New Roman" pitchFamily="18" charset="0"/>
                <a:cs typeface="Times New Roman" pitchFamily="18" charset="0"/>
              </a:rPr>
              <a:t>file stream (reading from files).</a:t>
            </a:r>
          </a:p>
          <a:p>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Output </a:t>
            </a:r>
            <a:r>
              <a:rPr lang="en-US" dirty="0">
                <a:latin typeface="Times New Roman" pitchFamily="18" charset="0"/>
                <a:cs typeface="Times New Roman" pitchFamily="18" charset="0"/>
              </a:rPr>
              <a:t>file stream (writing to files).</a:t>
            </a:r>
          </a:p>
          <a:p>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File </a:t>
            </a:r>
            <a:r>
              <a:rPr lang="en-US" dirty="0">
                <a:latin typeface="Times New Roman" pitchFamily="18" charset="0"/>
                <a:cs typeface="Times New Roman" pitchFamily="18" charset="0"/>
              </a:rPr>
              <a:t>stream for both input and output.</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02895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610600" cy="3970318"/>
          </a:xfrm>
          <a:prstGeom prst="rect">
            <a:avLst/>
          </a:prstGeom>
        </p:spPr>
        <p:txBody>
          <a:bodyPr wrap="square">
            <a:spAutoFit/>
          </a:bodyPr>
          <a:lstStyle/>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Hierarchy (Simplified Diagram):</a:t>
            </a:r>
          </a:p>
          <a:p>
            <a:endParaRPr lang="en-US" dirty="0">
              <a:latin typeface="Times New Roman" pitchFamily="18" charset="0"/>
              <a:cs typeface="Times New Roman" pitchFamily="18" charset="0"/>
            </a:endParaRPr>
          </a:p>
          <a:p>
            <a:pPr lvl="5"/>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ios</a:t>
            </a:r>
            <a:endParaRPr lang="en-US" dirty="0">
              <a:latin typeface="Times New Roman" pitchFamily="18" charset="0"/>
              <a:cs typeface="Times New Roman" pitchFamily="18" charset="0"/>
            </a:endParaRPr>
          </a:p>
          <a:p>
            <a:pPr lvl="5"/>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a:t>
            </a:r>
          </a:p>
          <a:p>
            <a:pPr lvl="5"/>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ostream</a:t>
            </a:r>
            <a:endParaRPr lang="en-US" dirty="0">
              <a:latin typeface="Times New Roman" pitchFamily="18" charset="0"/>
              <a:cs typeface="Times New Roman" pitchFamily="18" charset="0"/>
            </a:endParaRPr>
          </a:p>
          <a:p>
            <a:pPr lvl="5"/>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a:t>
            </a:r>
          </a:p>
          <a:p>
            <a:pPr lvl="5"/>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iostream</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For file handling:</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 for input from files</a:t>
            </a:r>
          </a:p>
          <a:p>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 for output to files</a:t>
            </a:r>
          </a:p>
          <a:p>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 for both input &amp; output</a:t>
            </a:r>
          </a:p>
        </p:txBody>
      </p:sp>
    </p:spTree>
    <p:extLst>
      <p:ext uri="{BB962C8B-B14F-4D97-AF65-F5344CB8AC3E}">
        <p14:creationId xmlns:p14="http://schemas.microsoft.com/office/powerpoint/2010/main" val="201245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818" y="152400"/>
            <a:ext cx="8610600" cy="5940088"/>
          </a:xfrm>
          <a:prstGeom prst="rect">
            <a:avLst/>
          </a:prstGeom>
        </p:spPr>
        <p:txBody>
          <a:bodyPr wrap="square">
            <a:spAutoFit/>
          </a:bodyPr>
          <a:lstStyle/>
          <a:p>
            <a:r>
              <a:rPr lang="en-US" sz="2000" b="1" dirty="0">
                <a:latin typeface="Times New Roman" pitchFamily="18" charset="0"/>
                <a:cs typeface="Times New Roman" pitchFamily="18" charset="0"/>
              </a:rPr>
              <a:t>Example 1: Using Standard </a:t>
            </a:r>
            <a:r>
              <a:rPr lang="en-US" sz="2000" b="1" dirty="0" smtClean="0">
                <a:latin typeface="Times New Roman" pitchFamily="18" charset="0"/>
                <a:cs typeface="Times New Roman" pitchFamily="18" charset="0"/>
              </a:rPr>
              <a:t>Streams</a:t>
            </a:r>
          </a:p>
          <a:p>
            <a:endParaRPr lang="en-US" sz="2000" b="1" dirty="0">
              <a:latin typeface="Times New Roman" pitchFamily="18" charset="0"/>
              <a:cs typeface="Times New Roman" pitchFamily="18" charset="0"/>
            </a:endParaRPr>
          </a:p>
          <a:p>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using namespace </a:t>
            </a:r>
            <a:r>
              <a:rPr lang="en-US" sz="2000" dirty="0" err="1">
                <a:latin typeface="Times New Roman" pitchFamily="18" charset="0"/>
                <a:cs typeface="Times New Roman" pitchFamily="18" charset="0"/>
              </a:rPr>
              <a:t>std</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r>
              <a:rPr lang="en-US" sz="2000" dirty="0">
                <a:latin typeface="Times New Roman" pitchFamily="18" charset="0"/>
                <a:cs typeface="Times New Roman" pitchFamily="18" charset="0"/>
              </a:rPr>
              <a:t>    string name;</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age;</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"Enter your name: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getline</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cin</a:t>
            </a:r>
            <a:r>
              <a:rPr lang="en-US" sz="2000" dirty="0">
                <a:latin typeface="Times New Roman" pitchFamily="18" charset="0"/>
                <a:cs typeface="Times New Roman" pitchFamily="18" charset="0"/>
              </a:rPr>
              <a:t>, name);    // using input stream</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"Enter your age: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cin</a:t>
            </a:r>
            <a:r>
              <a:rPr lang="en-US" sz="2000" dirty="0">
                <a:latin typeface="Times New Roman" pitchFamily="18" charset="0"/>
                <a:cs typeface="Times New Roman" pitchFamily="18" charset="0"/>
              </a:rPr>
              <a:t> &gt;&gt; age;</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"Hello, " &lt;&lt; name &lt;&lt; "! You are " &lt;&lt; age &lt;&lt; " years old."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return 0;</a:t>
            </a:r>
          </a:p>
          <a:p>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417563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463308"/>
          </a:xfrm>
          <a:prstGeom prst="rect">
            <a:avLst/>
          </a:prstGeom>
        </p:spPr>
        <p:txBody>
          <a:bodyPr wrap="square">
            <a:spAutoFit/>
          </a:bodyPr>
          <a:lstStyle/>
          <a:p>
            <a:r>
              <a:rPr lang="en-US" b="1" dirty="0">
                <a:latin typeface="Times New Roman" pitchFamily="18" charset="0"/>
                <a:cs typeface="Times New Roman" pitchFamily="18" charset="0"/>
              </a:rPr>
              <a:t>Example 2: File Streams (</a:t>
            </a:r>
            <a:r>
              <a:rPr lang="en-US" b="1" dirty="0" err="1">
                <a:latin typeface="Times New Roman" pitchFamily="18" charset="0"/>
                <a:cs typeface="Times New Roman" pitchFamily="18" charset="0"/>
              </a:rPr>
              <a:t>ifstream</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ofstream</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fstream</a:t>
            </a:r>
            <a:r>
              <a:rPr lang="en-US" b="1" dirty="0">
                <a:latin typeface="Times New Roman" pitchFamily="18" charset="0"/>
                <a:cs typeface="Times New Roman" pitchFamily="18" charset="0"/>
              </a:rPr>
              <a: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   // for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endl</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a:latin typeface="Times New Roman" pitchFamily="18" charset="0"/>
                <a:cs typeface="Times New Roman" pitchFamily="18" charset="0"/>
              </a:rPr>
              <a:t>&gt;   </a:t>
            </a:r>
            <a:r>
              <a:rPr lang="en-US" smtClean="0">
                <a:latin typeface="Times New Roman" pitchFamily="18" charset="0"/>
                <a:cs typeface="Times New Roman" pitchFamily="18" charset="0"/>
              </a:rPr>
              <a:t>// </a:t>
            </a:r>
            <a:r>
              <a:rPr lang="en-US" dirty="0">
                <a:latin typeface="Times New Roman" pitchFamily="18" charset="0"/>
                <a:cs typeface="Times New Roman" pitchFamily="18" charset="0"/>
              </a:rPr>
              <a:t>for file handling (</a:t>
            </a: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 Writing to a file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("data.txt");  // create and open file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&lt;&lt; "Hello, C++ Streams!"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&lt;&lt; "This is file output example."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fout.close</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 Reading from a file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fin("data.txt");</a:t>
            </a:r>
          </a:p>
          <a:p>
            <a:r>
              <a:rPr lang="en-US" dirty="0">
                <a:latin typeface="Times New Roman" pitchFamily="18" charset="0"/>
                <a:cs typeface="Times New Roman" pitchFamily="18" charset="0"/>
              </a:rPr>
              <a:t>    string line;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"Reading from file:"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while (</a:t>
            </a:r>
            <a:r>
              <a:rPr lang="en-US" dirty="0" err="1">
                <a:latin typeface="Times New Roman" pitchFamily="18" charset="0"/>
                <a:cs typeface="Times New Roman" pitchFamily="18" charset="0"/>
              </a:rPr>
              <a:t>getline</a:t>
            </a:r>
            <a:r>
              <a:rPr lang="en-US" dirty="0">
                <a:latin typeface="Times New Roman" pitchFamily="18" charset="0"/>
                <a:cs typeface="Times New Roman" pitchFamily="18" charset="0"/>
              </a:rPr>
              <a:t>(fin, line))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line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fin.close</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p:txBody>
      </p:sp>
      <p:sp>
        <p:nvSpPr>
          <p:cNvPr id="3" name="Rectangle 2"/>
          <p:cNvSpPr/>
          <p:nvPr/>
        </p:nvSpPr>
        <p:spPr>
          <a:xfrm>
            <a:off x="5562600" y="3048000"/>
            <a:ext cx="3429000" cy="3139321"/>
          </a:xfrm>
          <a:prstGeom prst="rect">
            <a:avLst/>
          </a:prstGeom>
        </p:spPr>
        <p:txBody>
          <a:bodyPr wrap="square">
            <a:spAutoFit/>
          </a:bodyPr>
          <a:lstStyle/>
          <a:p>
            <a:r>
              <a:rPr lang="en-US" i="1" dirty="0" smtClean="0">
                <a:latin typeface="Times New Roman" pitchFamily="18" charset="0"/>
                <a:cs typeface="Times New Roman" pitchFamily="18" charset="0"/>
              </a:rPr>
              <a:t>//Output </a:t>
            </a:r>
            <a:r>
              <a:rPr lang="en-US" i="1" dirty="0">
                <a:latin typeface="Times New Roman" pitchFamily="18" charset="0"/>
                <a:cs typeface="Times New Roman" pitchFamily="18" charset="0"/>
              </a:rPr>
              <a:t>(Screen):</a:t>
            </a:r>
          </a:p>
          <a:p>
            <a:endParaRPr lang="en-US" i="1" dirty="0">
              <a:latin typeface="Times New Roman" pitchFamily="18" charset="0"/>
              <a:cs typeface="Times New Roman" pitchFamily="18" charset="0"/>
            </a:endParaRPr>
          </a:p>
          <a:p>
            <a:r>
              <a:rPr lang="en-US" i="1" dirty="0">
                <a:latin typeface="Times New Roman" pitchFamily="18" charset="0"/>
                <a:cs typeface="Times New Roman" pitchFamily="18" charset="0"/>
              </a:rPr>
              <a:t>Reading from file:</a:t>
            </a:r>
          </a:p>
          <a:p>
            <a:r>
              <a:rPr lang="en-US" i="1" dirty="0">
                <a:latin typeface="Times New Roman" pitchFamily="18" charset="0"/>
                <a:cs typeface="Times New Roman" pitchFamily="18" charset="0"/>
              </a:rPr>
              <a:t>Hello, C++ Streams!</a:t>
            </a:r>
          </a:p>
          <a:p>
            <a:r>
              <a:rPr lang="en-US" i="1" dirty="0">
                <a:latin typeface="Times New Roman" pitchFamily="18" charset="0"/>
                <a:cs typeface="Times New Roman" pitchFamily="18" charset="0"/>
              </a:rPr>
              <a:t>This is file output example.</a:t>
            </a:r>
          </a:p>
          <a:p>
            <a:endParaRPr lang="en-US" i="1" dirty="0">
              <a:latin typeface="Times New Roman" pitchFamily="18" charset="0"/>
              <a:cs typeface="Times New Roman" pitchFamily="18" charset="0"/>
            </a:endParaRPr>
          </a:p>
          <a:p>
            <a:endParaRPr lang="en-US" i="1" dirty="0">
              <a:latin typeface="Times New Roman" pitchFamily="18" charset="0"/>
              <a:cs typeface="Times New Roman" pitchFamily="18" charset="0"/>
            </a:endParaRPr>
          </a:p>
          <a:p>
            <a:r>
              <a:rPr lang="en-US" i="1" dirty="0" smtClean="0">
                <a:latin typeface="Times New Roman" pitchFamily="18" charset="0"/>
                <a:cs typeface="Times New Roman" pitchFamily="18" charset="0"/>
              </a:rPr>
              <a:t>// </a:t>
            </a:r>
            <a:r>
              <a:rPr lang="en-US" i="1" dirty="0">
                <a:latin typeface="Times New Roman" pitchFamily="18" charset="0"/>
                <a:cs typeface="Times New Roman" pitchFamily="18" charset="0"/>
              </a:rPr>
              <a:t>Content of data.txt:</a:t>
            </a:r>
          </a:p>
          <a:p>
            <a:endParaRPr lang="en-US" i="1" dirty="0">
              <a:latin typeface="Times New Roman" pitchFamily="18" charset="0"/>
              <a:cs typeface="Times New Roman" pitchFamily="18" charset="0"/>
            </a:endParaRPr>
          </a:p>
          <a:p>
            <a:r>
              <a:rPr lang="en-US" i="1" dirty="0">
                <a:latin typeface="Times New Roman" pitchFamily="18" charset="0"/>
                <a:cs typeface="Times New Roman" pitchFamily="18" charset="0"/>
              </a:rPr>
              <a:t>Hello, C++ Streams!</a:t>
            </a:r>
          </a:p>
          <a:p>
            <a:r>
              <a:rPr lang="en-US" i="1" dirty="0">
                <a:latin typeface="Times New Roman" pitchFamily="18" charset="0"/>
                <a:cs typeface="Times New Roman" pitchFamily="18" charset="0"/>
              </a:rPr>
              <a:t>This is file output example.</a:t>
            </a:r>
          </a:p>
        </p:txBody>
      </p:sp>
    </p:spTree>
    <p:extLst>
      <p:ext uri="{BB962C8B-B14F-4D97-AF65-F5344CB8AC3E}">
        <p14:creationId xmlns:p14="http://schemas.microsoft.com/office/powerpoint/2010/main" val="424931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182" y="152400"/>
            <a:ext cx="8686800" cy="6863417"/>
          </a:xfrm>
          <a:prstGeom prst="rect">
            <a:avLst/>
          </a:prstGeom>
        </p:spPr>
        <p:txBody>
          <a:bodyPr wrap="square">
            <a:spAutoFit/>
          </a:bodyPr>
          <a:lstStyle/>
          <a:p>
            <a:r>
              <a:rPr lang="en-US" sz="2000" b="1" dirty="0">
                <a:latin typeface="Times New Roman" pitchFamily="18" charset="0"/>
                <a:cs typeface="Times New Roman" pitchFamily="18" charset="0"/>
              </a:rPr>
              <a:t>Example 3: </a:t>
            </a:r>
            <a:r>
              <a:rPr lang="en-US" sz="2000" b="1" dirty="0" err="1">
                <a:latin typeface="Times New Roman" pitchFamily="18" charset="0"/>
                <a:cs typeface="Times New Roman" pitchFamily="18" charset="0"/>
              </a:rPr>
              <a:t>cerr</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vs</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clog :</a:t>
            </a:r>
          </a:p>
          <a:p>
            <a:endParaRPr lang="en-US" sz="2000" b="1" dirty="0">
              <a:latin typeface="Times New Roman" pitchFamily="18" charset="0"/>
              <a:cs typeface="Times New Roman" pitchFamily="18" charset="0"/>
            </a:endParaRPr>
          </a:p>
          <a:p>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using namespace </a:t>
            </a:r>
            <a:r>
              <a:rPr lang="en-US" sz="2000" dirty="0" err="1">
                <a:latin typeface="Times New Roman" pitchFamily="18" charset="0"/>
                <a:cs typeface="Times New Roman" pitchFamily="18" charset="0"/>
              </a:rPr>
              <a:t>std</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&lt;&lt; "Error: Something went wrong!"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   // immediate output</a:t>
            </a:r>
          </a:p>
          <a:p>
            <a:r>
              <a:rPr lang="en-US" sz="2000" dirty="0">
                <a:latin typeface="Times New Roman" pitchFamily="18" charset="0"/>
                <a:cs typeface="Times New Roman" pitchFamily="18" charset="0"/>
              </a:rPr>
              <a:t>    clog &lt;&lt; "Log: Program is running smoothly."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 // buffered output</a:t>
            </a:r>
          </a:p>
          <a:p>
            <a:r>
              <a:rPr lang="en-US" sz="2000" dirty="0">
                <a:latin typeface="Times New Roman" pitchFamily="18" charset="0"/>
                <a:cs typeface="Times New Roman" pitchFamily="18" charset="0"/>
              </a:rPr>
              <a:t>    return 0;</a:t>
            </a:r>
          </a:p>
          <a:p>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Summary:</a:t>
            </a:r>
            <a:endParaRPr lang="en-US" sz="2000" b="1" dirty="0">
              <a:latin typeface="Times New Roman" pitchFamily="18" charset="0"/>
              <a:cs typeface="Times New Roman" pitchFamily="18" charset="0"/>
            </a:endParaRPr>
          </a:p>
          <a:p>
            <a:pPr marL="342900" indent="-342900">
              <a:buFont typeface="Arial" pitchFamily="34" charset="0"/>
              <a:buChar char="•"/>
            </a:pPr>
            <a:r>
              <a:rPr lang="en-US" sz="2000" dirty="0">
                <a:latin typeface="Times New Roman" pitchFamily="18" charset="0"/>
                <a:cs typeface="Times New Roman" pitchFamily="18" charset="0"/>
              </a:rPr>
              <a:t>Streams = data flow between program and devices.</a:t>
            </a:r>
          </a:p>
          <a:p>
            <a:pPr marL="342900" indent="-342900">
              <a:buFont typeface="Arial" pitchFamily="34" charset="0"/>
              <a:buChar char="•"/>
            </a:pPr>
            <a:endParaRPr lang="en-US" sz="2000" dirty="0">
              <a:latin typeface="Times New Roman" pitchFamily="18" charset="0"/>
              <a:cs typeface="Times New Roman" pitchFamily="18" charset="0"/>
            </a:endParaRPr>
          </a:p>
          <a:p>
            <a:pPr marL="342900" indent="-342900">
              <a:buFont typeface="Arial" pitchFamily="34" charset="0"/>
              <a:buChar char="•"/>
            </a:pPr>
            <a:r>
              <a:rPr lang="en-US" sz="2000" dirty="0" err="1">
                <a:latin typeface="Times New Roman" pitchFamily="18" charset="0"/>
                <a:cs typeface="Times New Roman" pitchFamily="18" charset="0"/>
              </a:rPr>
              <a:t>cin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clog → standard I/O streams.</a:t>
            </a:r>
          </a:p>
          <a:p>
            <a:pPr marL="342900" indent="-342900">
              <a:buFont typeface="Arial" pitchFamily="34" charset="0"/>
              <a:buChar char="•"/>
            </a:pPr>
            <a:endParaRPr lang="en-US" sz="2000" dirty="0">
              <a:latin typeface="Times New Roman" pitchFamily="18" charset="0"/>
              <a:cs typeface="Times New Roman" pitchFamily="18" charset="0"/>
            </a:endParaRPr>
          </a:p>
          <a:p>
            <a:pPr marL="342900" indent="-342900">
              <a:buFont typeface="Arial" pitchFamily="34" charset="0"/>
              <a:buChar char="•"/>
            </a:pPr>
            <a:r>
              <a:rPr lang="en-US" sz="2000" dirty="0">
                <a:latin typeface="Times New Roman" pitchFamily="18" charset="0"/>
                <a:cs typeface="Times New Roman" pitchFamily="18" charset="0"/>
              </a:rPr>
              <a:t>Stream classes form a hierarchy: </a:t>
            </a:r>
            <a:r>
              <a:rPr lang="en-US" sz="2000" dirty="0" err="1">
                <a:latin typeface="Times New Roman" pitchFamily="18" charset="0"/>
                <a:cs typeface="Times New Roman" pitchFamily="18" charset="0"/>
              </a:rPr>
              <a:t>ios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istream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ostream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a:t>
            </a:r>
          </a:p>
          <a:p>
            <a:pPr marL="342900" indent="-342900">
              <a:buFont typeface="Arial" pitchFamily="34" charset="0"/>
              <a:buChar char="•"/>
            </a:pPr>
            <a:endParaRPr lang="en-US" sz="2000" dirty="0">
              <a:latin typeface="Times New Roman" pitchFamily="18" charset="0"/>
              <a:cs typeface="Times New Roman" pitchFamily="18" charset="0"/>
            </a:endParaRPr>
          </a:p>
          <a:p>
            <a:pPr marL="342900" indent="-342900">
              <a:buFont typeface="Arial" pitchFamily="34" charset="0"/>
              <a:buChar char="•"/>
            </a:pPr>
            <a:r>
              <a:rPr lang="en-US" sz="2000" dirty="0">
                <a:latin typeface="Times New Roman" pitchFamily="18" charset="0"/>
                <a:cs typeface="Times New Roman" pitchFamily="18" charset="0"/>
              </a:rPr>
              <a:t>File handling uses </a:t>
            </a:r>
            <a:r>
              <a:rPr lang="en-US" sz="2000" dirty="0" err="1">
                <a:latin typeface="Times New Roman" pitchFamily="18" charset="0"/>
                <a:cs typeface="Times New Roman" pitchFamily="18" charset="0"/>
              </a:rPr>
              <a:t>ifstream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ofstream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fstream</a:t>
            </a:r>
            <a:r>
              <a:rPr lang="en-US" sz="2000" dirty="0">
                <a:latin typeface="Times New Roman" pitchFamily="18" charset="0"/>
                <a:cs typeface="Times New Roman" pitchFamily="18" charset="0"/>
              </a:rPr>
              <a:t>.</a:t>
            </a:r>
          </a:p>
          <a:p>
            <a:pPr marL="342900" indent="-342900">
              <a:buFont typeface="Arial" pitchFamily="34" charset="0"/>
              <a:buChar char="•"/>
            </a:pPr>
            <a:endParaRPr lang="en-US" sz="2000" dirty="0">
              <a:latin typeface="Times New Roman" pitchFamily="18" charset="0"/>
              <a:cs typeface="Times New Roman" pitchFamily="18" charset="0"/>
            </a:endParaRPr>
          </a:p>
          <a:p>
            <a:pPr marL="342900" indent="-342900">
              <a:buFont typeface="Arial" pitchFamily="34" charset="0"/>
              <a:buChar char="•"/>
            </a:pPr>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vs</a:t>
            </a:r>
            <a:r>
              <a:rPr lang="en-US" sz="2000" dirty="0">
                <a:latin typeface="Times New Roman" pitchFamily="18" charset="0"/>
                <a:cs typeface="Times New Roman" pitchFamily="18" charset="0"/>
              </a:rPr>
              <a:t> clog → both for errors, but </a:t>
            </a:r>
            <a:r>
              <a:rPr lang="en-US" sz="2000" dirty="0" err="1">
                <a:latin typeface="Times New Roman" pitchFamily="18" charset="0"/>
                <a:cs typeface="Times New Roman" pitchFamily="18" charset="0"/>
              </a:rPr>
              <a:t>cerr</a:t>
            </a:r>
            <a:r>
              <a:rPr lang="en-US" sz="2000" dirty="0">
                <a:latin typeface="Times New Roman" pitchFamily="18" charset="0"/>
                <a:cs typeface="Times New Roman" pitchFamily="18" charset="0"/>
              </a:rPr>
              <a:t> is </a:t>
            </a:r>
            <a:r>
              <a:rPr lang="en-US" sz="2000" dirty="0" err="1">
                <a:latin typeface="Times New Roman" pitchFamily="18" charset="0"/>
                <a:cs typeface="Times New Roman" pitchFamily="18" charset="0"/>
              </a:rPr>
              <a:t>unbuffered</a:t>
            </a:r>
            <a:r>
              <a:rPr lang="en-US" sz="2000" dirty="0">
                <a:latin typeface="Times New Roman" pitchFamily="18" charset="0"/>
                <a:cs typeface="Times New Roman" pitchFamily="18" charset="0"/>
              </a:rPr>
              <a:t> (immediate), clog is buffered.</a:t>
            </a:r>
          </a:p>
        </p:txBody>
      </p:sp>
    </p:spTree>
    <p:extLst>
      <p:ext uri="{BB962C8B-B14F-4D97-AF65-F5344CB8AC3E}">
        <p14:creationId xmlns:p14="http://schemas.microsoft.com/office/powerpoint/2010/main" val="89457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3970318"/>
          </a:xfrm>
          <a:prstGeom prst="rect">
            <a:avLst/>
          </a:prstGeom>
        </p:spPr>
        <p:txBody>
          <a:bodyPr wrap="square">
            <a:spAutoFit/>
          </a:bodyPr>
          <a:lstStyle/>
          <a:p>
            <a:r>
              <a:rPr lang="en-US" b="1" dirty="0">
                <a:latin typeface="Times New Roman" pitchFamily="18" charset="0"/>
                <a:cs typeface="Times New Roman" pitchFamily="18" charset="0"/>
              </a:rPr>
              <a:t>File Handling in C</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In C++, input and output are done in the form of a sequence of bytes called streams. For example,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are the objects associated with the standard input and output streams. These streams are represented by different classes provided in the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 library.</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Similarly, C++ also provides file stream classes to perform input and output operations on files that are defined inside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 header file.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File Handling Operations</a:t>
            </a:r>
          </a:p>
          <a:p>
            <a:r>
              <a:rPr lang="en-US" dirty="0">
                <a:latin typeface="Times New Roman" pitchFamily="18" charset="0"/>
                <a:cs typeface="Times New Roman" pitchFamily="18" charset="0"/>
              </a:rPr>
              <a:t>There are mainly three main steps in file handling:</a:t>
            </a:r>
          </a:p>
          <a:p>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Opening a File</a:t>
            </a:r>
          </a:p>
          <a:p>
            <a:pPr marL="342900" indent="-342900">
              <a:buFont typeface="+mj-lt"/>
              <a:buAutoNum type="arabicPeriod"/>
            </a:pPr>
            <a:r>
              <a:rPr lang="en-US" dirty="0">
                <a:latin typeface="Times New Roman" pitchFamily="18" charset="0"/>
                <a:cs typeface="Times New Roman" pitchFamily="18" charset="0"/>
              </a:rPr>
              <a:t>Read/Write Operations</a:t>
            </a:r>
          </a:p>
          <a:p>
            <a:pPr marL="342900" indent="-342900">
              <a:buFont typeface="+mj-lt"/>
              <a:buAutoNum type="arabicPeriod"/>
            </a:pPr>
            <a:r>
              <a:rPr lang="en-US" dirty="0">
                <a:latin typeface="Times New Roman" pitchFamily="18" charset="0"/>
                <a:cs typeface="Times New Roman" pitchFamily="18" charset="0"/>
              </a:rPr>
              <a:t>Closing a </a:t>
            </a:r>
            <a:r>
              <a:rPr lang="en-US" dirty="0" smtClean="0">
                <a:latin typeface="Times New Roman" pitchFamily="18" charset="0"/>
                <a:cs typeface="Times New Roman" pitchFamily="18" charset="0"/>
              </a:rPr>
              <a:t>File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07634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76200"/>
            <a:ext cx="8534400" cy="3416320"/>
          </a:xfrm>
          <a:prstGeom prst="rect">
            <a:avLst/>
          </a:prstGeom>
        </p:spPr>
        <p:txBody>
          <a:bodyPr wrap="square">
            <a:spAutoFit/>
          </a:bodyPr>
          <a:lstStyle/>
          <a:p>
            <a:r>
              <a:rPr lang="en-US" b="1" dirty="0">
                <a:latin typeface="Times New Roman" pitchFamily="18" charset="0"/>
                <a:cs typeface="Times New Roman" pitchFamily="18" charset="0"/>
              </a:rPr>
              <a:t>Opening a </a:t>
            </a:r>
            <a:r>
              <a:rPr lang="en-US" b="1" dirty="0" smtClean="0">
                <a:latin typeface="Times New Roman" pitchFamily="18" charset="0"/>
                <a:cs typeface="Times New Roman" pitchFamily="18" charset="0"/>
              </a:rPr>
              <a:t>File :</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Before reading from or writing to a file, we first need to open it. Opening a file loads that file in the RAM. In C++, we open a file by creating a stream to it using the </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class that represent the file stream i.e. stream for input and output to the file.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Syntax:</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str</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filename.ext</a:t>
            </a:r>
            <a:r>
              <a:rPr lang="en-US" dirty="0">
                <a:latin typeface="Times New Roman" pitchFamily="18" charset="0"/>
                <a:cs typeface="Times New Roman" pitchFamily="18" charset="0"/>
              </a:rPr>
              <a:t>", mode);</a:t>
            </a:r>
          </a:p>
          <a:p>
            <a:r>
              <a:rPr lang="en-US" dirty="0">
                <a:latin typeface="Times New Roman" pitchFamily="18" charset="0"/>
                <a:cs typeface="Times New Roman" pitchFamily="18" charset="0"/>
              </a:rPr>
              <a:t>where,</a:t>
            </a:r>
          </a:p>
          <a:p>
            <a:r>
              <a:rPr lang="en-US" dirty="0" err="1" smtClean="0">
                <a:latin typeface="Times New Roman" pitchFamily="18" charset="0"/>
                <a:cs typeface="Times New Roman" pitchFamily="18" charset="0"/>
              </a:rPr>
              <a:t>str</a:t>
            </a:r>
            <a:r>
              <a:rPr lang="en-US" dirty="0">
                <a:latin typeface="Times New Roman" pitchFamily="18" charset="0"/>
                <a:cs typeface="Times New Roman" pitchFamily="18" charset="0"/>
              </a:rPr>
              <a:t>: Name given to the stream</a:t>
            </a:r>
          </a:p>
          <a:p>
            <a:r>
              <a:rPr lang="en-US" dirty="0">
                <a:latin typeface="Times New Roman" pitchFamily="18" charset="0"/>
                <a:cs typeface="Times New Roman" pitchFamily="18" charset="0"/>
              </a:rPr>
              <a:t>filename: Name of the file</a:t>
            </a:r>
          </a:p>
          <a:p>
            <a:r>
              <a:rPr lang="en-US" dirty="0">
                <a:latin typeface="Times New Roman" pitchFamily="18" charset="0"/>
                <a:cs typeface="Times New Roman" pitchFamily="18" charset="0"/>
              </a:rPr>
              <a:t>mode: Represents the way in which we are going to interact with the file</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1572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600200"/>
            <a:ext cx="8382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28600" y="228600"/>
            <a:ext cx="8458200" cy="923330"/>
          </a:xfrm>
          <a:prstGeom prst="rect">
            <a:avLst/>
          </a:prstGeom>
        </p:spPr>
        <p:txBody>
          <a:bodyPr wrap="square">
            <a:spAutoFit/>
          </a:bodyPr>
          <a:lstStyle/>
          <a:p>
            <a:r>
              <a:rPr lang="en-US" b="1" dirty="0">
                <a:latin typeface="Times New Roman" pitchFamily="18" charset="0"/>
                <a:cs typeface="Times New Roman" pitchFamily="18" charset="0"/>
              </a:rPr>
              <a:t>File Opening </a:t>
            </a:r>
            <a:r>
              <a:rPr lang="en-US" b="1" dirty="0" smtClean="0">
                <a:latin typeface="Times New Roman" pitchFamily="18" charset="0"/>
                <a:cs typeface="Times New Roman" pitchFamily="18" charset="0"/>
              </a:rPr>
              <a:t>Modes:</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File opening mode indicate file is opened for reading, writing, or appending. Below is the list of all file modes in C++:</a:t>
            </a:r>
          </a:p>
        </p:txBody>
      </p:sp>
    </p:spTree>
    <p:extLst>
      <p:ext uri="{BB962C8B-B14F-4D97-AF65-F5344CB8AC3E}">
        <p14:creationId xmlns:p14="http://schemas.microsoft.com/office/powerpoint/2010/main" val="297826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7346"/>
            <a:ext cx="8686800" cy="4524315"/>
          </a:xfrm>
          <a:prstGeom prst="rect">
            <a:avLst/>
          </a:prstGeom>
        </p:spPr>
        <p:txBody>
          <a:bodyPr wrap="square">
            <a:spAutoFit/>
          </a:bodyPr>
          <a:lstStyle/>
          <a:p>
            <a:r>
              <a:rPr lang="en-US" dirty="0">
                <a:latin typeface="Times New Roman" pitchFamily="18" charset="0"/>
                <a:cs typeface="Times New Roman" pitchFamily="18" charset="0"/>
              </a:rPr>
              <a:t>For Example, if we want to open the file for reading, we use the following opening mode:</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filein</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Similarly</a:t>
            </a:r>
            <a:r>
              <a:rPr lang="en-US" dirty="0">
                <a:latin typeface="Times New Roman" pitchFamily="18" charset="0"/>
                <a:cs typeface="Times New Roman" pitchFamily="18" charset="0"/>
              </a:rPr>
              <a:t>, if we want to open the file for writing, we use the following:</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fileout</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These modes can also be combined using OR operator (|). For example, you can open the file stream in both read and write mode as shown:</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str</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If the file opened in write mode does not exists, a new file is created. But if the file opened in read mode doesn't exists, then no new file is created, and an exception is </a:t>
            </a:r>
            <a:r>
              <a:rPr lang="en-US" dirty="0" smtClean="0">
                <a:latin typeface="Times New Roman" pitchFamily="18" charset="0"/>
                <a:cs typeface="Times New Roman" pitchFamily="18" charset="0"/>
              </a:rPr>
              <a:t>thrown.</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3671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534400" cy="3693319"/>
          </a:xfrm>
          <a:prstGeom prst="rect">
            <a:avLst/>
          </a:prstGeom>
        </p:spPr>
        <p:txBody>
          <a:bodyPr wrap="square">
            <a:spAutoFit/>
          </a:bodyPr>
          <a:lstStyle/>
          <a:p>
            <a:r>
              <a:rPr lang="en-US" b="1" dirty="0"/>
              <a:t>Other File </a:t>
            </a:r>
            <a:r>
              <a:rPr lang="en-US" b="1" dirty="0" smtClean="0"/>
              <a:t>Streams:</a:t>
            </a:r>
            <a:endParaRPr lang="en-US" b="1" dirty="0"/>
          </a:p>
          <a:p>
            <a:r>
              <a:rPr lang="en-US" dirty="0" err="1"/>
              <a:t>fstream</a:t>
            </a:r>
            <a:r>
              <a:rPr lang="en-US" dirty="0"/>
              <a:t> is not the only file stream provided by C++. There are two more specialized streams:</a:t>
            </a:r>
          </a:p>
          <a:p>
            <a:pPr marL="342900" indent="-342900">
              <a:buFont typeface="+mj-lt"/>
              <a:buAutoNum type="arabicPeriod"/>
            </a:pPr>
            <a:r>
              <a:rPr lang="en-US" dirty="0" err="1" smtClean="0"/>
              <a:t>ifstream</a:t>
            </a:r>
            <a:r>
              <a:rPr lang="en-US" dirty="0"/>
              <a:t>: Stands for input file stream. It is equivalent to open </a:t>
            </a:r>
            <a:r>
              <a:rPr lang="en-US" dirty="0" err="1"/>
              <a:t>fstream</a:t>
            </a:r>
            <a:r>
              <a:rPr lang="en-US" dirty="0"/>
              <a:t> in </a:t>
            </a:r>
            <a:r>
              <a:rPr lang="en-US" dirty="0" err="1"/>
              <a:t>ios</a:t>
            </a:r>
            <a:r>
              <a:rPr lang="en-US" dirty="0"/>
              <a:t>::in mode.</a:t>
            </a:r>
          </a:p>
          <a:p>
            <a:pPr marL="342900" indent="-342900">
              <a:buFont typeface="+mj-lt"/>
              <a:buAutoNum type="arabicPeriod"/>
            </a:pPr>
            <a:r>
              <a:rPr lang="en-US" dirty="0" err="1"/>
              <a:t>ofstream</a:t>
            </a:r>
            <a:r>
              <a:rPr lang="en-US" dirty="0"/>
              <a:t>: Stands for output file stream. It is equivalent to opening </a:t>
            </a:r>
            <a:r>
              <a:rPr lang="en-US" dirty="0" err="1"/>
              <a:t>fstream</a:t>
            </a:r>
            <a:r>
              <a:rPr lang="en-US" dirty="0"/>
              <a:t> in </a:t>
            </a:r>
            <a:r>
              <a:rPr lang="en-US" dirty="0" err="1"/>
              <a:t>ios</a:t>
            </a:r>
            <a:r>
              <a:rPr lang="en-US" dirty="0"/>
              <a:t>::out mode.</a:t>
            </a:r>
          </a:p>
          <a:p>
            <a:endParaRPr lang="en-US" dirty="0" smtClean="0"/>
          </a:p>
          <a:p>
            <a:r>
              <a:rPr lang="en-US" dirty="0" smtClean="0"/>
              <a:t>The </a:t>
            </a:r>
            <a:r>
              <a:rPr lang="en-US" dirty="0"/>
              <a:t>above modes are default modes for these streams. These modes cannot be changed but can be clubbed together with other modes. Now for input, we can also use </a:t>
            </a:r>
            <a:r>
              <a:rPr lang="en-US" dirty="0" err="1"/>
              <a:t>ifstream</a:t>
            </a:r>
            <a:r>
              <a:rPr lang="en-US" dirty="0"/>
              <a:t> as shown:</a:t>
            </a:r>
          </a:p>
          <a:p>
            <a:r>
              <a:rPr lang="en-US" dirty="0" smtClean="0"/>
              <a:t>		</a:t>
            </a:r>
            <a:r>
              <a:rPr lang="en-US" dirty="0" err="1" smtClean="0"/>
              <a:t>ifstream</a:t>
            </a:r>
            <a:r>
              <a:rPr lang="en-US" dirty="0" smtClean="0"/>
              <a:t> </a:t>
            </a:r>
            <a:r>
              <a:rPr lang="en-US" dirty="0" err="1"/>
              <a:t>filein</a:t>
            </a:r>
            <a:r>
              <a:rPr lang="en-US" dirty="0"/>
              <a:t>("file.txt");</a:t>
            </a:r>
          </a:p>
          <a:p>
            <a:r>
              <a:rPr lang="en-US" dirty="0"/>
              <a:t>Similarly, for output:</a:t>
            </a:r>
          </a:p>
          <a:p>
            <a:r>
              <a:rPr lang="en-US" dirty="0" smtClean="0"/>
              <a:t>		</a:t>
            </a:r>
            <a:r>
              <a:rPr lang="en-US" dirty="0" err="1" smtClean="0"/>
              <a:t>ofstream</a:t>
            </a:r>
            <a:r>
              <a:rPr lang="en-US" dirty="0" smtClean="0"/>
              <a:t> </a:t>
            </a:r>
            <a:r>
              <a:rPr lang="en-US" dirty="0" err="1"/>
              <a:t>fileout</a:t>
            </a:r>
            <a:r>
              <a:rPr lang="en-US" dirty="0"/>
              <a:t>("file.txt");</a:t>
            </a:r>
          </a:p>
        </p:txBody>
      </p:sp>
    </p:spTree>
    <p:extLst>
      <p:ext uri="{BB962C8B-B14F-4D97-AF65-F5344CB8AC3E}">
        <p14:creationId xmlns:p14="http://schemas.microsoft.com/office/powerpoint/2010/main" val="3064304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818" y="228600"/>
            <a:ext cx="8534400" cy="6401753"/>
          </a:xfrm>
          <a:prstGeom prst="rect">
            <a:avLst/>
          </a:prstGeom>
        </p:spPr>
        <p:txBody>
          <a:bodyPr wrap="square">
            <a:spAutoFit/>
          </a:bodyPr>
          <a:lstStyle/>
          <a:p>
            <a:r>
              <a:rPr lang="en-US" b="1" dirty="0"/>
              <a:t>Write Data to </a:t>
            </a:r>
            <a:r>
              <a:rPr lang="en-US" b="1" dirty="0" smtClean="0"/>
              <a:t>File :</a:t>
            </a:r>
            <a:endParaRPr lang="en-US" b="1" dirty="0"/>
          </a:p>
          <a:p>
            <a:r>
              <a:rPr lang="en-US" dirty="0"/>
              <a:t>Once the file is opened in the write mode using either </a:t>
            </a:r>
            <a:r>
              <a:rPr lang="en-US" dirty="0" err="1"/>
              <a:t>fstream</a:t>
            </a:r>
            <a:r>
              <a:rPr lang="en-US" dirty="0"/>
              <a:t> or </a:t>
            </a:r>
            <a:r>
              <a:rPr lang="en-US" dirty="0" err="1"/>
              <a:t>ofstream</a:t>
            </a:r>
            <a:r>
              <a:rPr lang="en-US" dirty="0"/>
              <a:t>, we can perform the write operation in similar way as with </a:t>
            </a:r>
            <a:r>
              <a:rPr lang="en-US" dirty="0" err="1"/>
              <a:t>cout</a:t>
            </a:r>
            <a:r>
              <a:rPr lang="en-US" dirty="0"/>
              <a:t> using &lt;&lt; operator.</a:t>
            </a:r>
          </a:p>
          <a:p>
            <a:endParaRPr lang="en-US" dirty="0"/>
          </a:p>
          <a:p>
            <a:r>
              <a:rPr lang="en-US" b="1" dirty="0"/>
              <a:t>Example:</a:t>
            </a:r>
          </a:p>
          <a:p>
            <a:pPr lvl="2"/>
            <a:r>
              <a:rPr lang="en-US" sz="2000" dirty="0" smtClean="0"/>
              <a:t>#</a:t>
            </a:r>
            <a:r>
              <a:rPr lang="en-US" sz="2000" dirty="0"/>
              <a:t>include &lt;</a:t>
            </a:r>
            <a:r>
              <a:rPr lang="en-US" sz="2000" dirty="0" err="1"/>
              <a:t>iostream</a:t>
            </a:r>
            <a:r>
              <a:rPr lang="en-US" sz="2000" dirty="0"/>
              <a:t>&gt;</a:t>
            </a:r>
          </a:p>
          <a:p>
            <a:pPr lvl="2"/>
            <a:r>
              <a:rPr lang="en-US" sz="2000" dirty="0"/>
              <a:t>#include &lt;</a:t>
            </a:r>
            <a:r>
              <a:rPr lang="en-US" sz="2000" dirty="0" err="1"/>
              <a:t>fstream</a:t>
            </a:r>
            <a:r>
              <a:rPr lang="en-US" sz="2000" dirty="0"/>
              <a:t>&gt;   // Required for file handling</a:t>
            </a:r>
          </a:p>
          <a:p>
            <a:pPr lvl="2"/>
            <a:r>
              <a:rPr lang="en-US" sz="2000" dirty="0"/>
              <a:t>using namespace </a:t>
            </a:r>
            <a:r>
              <a:rPr lang="en-US" sz="2000" dirty="0" err="1"/>
              <a:t>std</a:t>
            </a:r>
            <a:r>
              <a:rPr lang="en-US" sz="2000" dirty="0"/>
              <a:t>;</a:t>
            </a:r>
          </a:p>
          <a:p>
            <a:pPr lvl="2"/>
            <a:endParaRPr lang="en-US" sz="2000" dirty="0"/>
          </a:p>
          <a:p>
            <a:pPr lvl="2"/>
            <a:r>
              <a:rPr lang="en-US" sz="2000" dirty="0" err="1"/>
              <a:t>int</a:t>
            </a:r>
            <a:r>
              <a:rPr lang="en-US" sz="2000" dirty="0"/>
              <a:t> main() {</a:t>
            </a:r>
          </a:p>
          <a:p>
            <a:pPr lvl="2"/>
            <a:r>
              <a:rPr lang="en-US" sz="2000" dirty="0"/>
              <a:t>    // Open a file</a:t>
            </a:r>
          </a:p>
          <a:p>
            <a:pPr lvl="2"/>
            <a:r>
              <a:rPr lang="en-US" sz="2000" dirty="0"/>
              <a:t>    </a:t>
            </a:r>
            <a:r>
              <a:rPr lang="en-US" sz="2000" dirty="0" err="1"/>
              <a:t>ofstream</a:t>
            </a:r>
            <a:r>
              <a:rPr lang="en-US" sz="2000" dirty="0"/>
              <a:t> file("example.txt");</a:t>
            </a:r>
          </a:p>
          <a:p>
            <a:pPr lvl="2"/>
            <a:endParaRPr lang="en-US" sz="2000" dirty="0"/>
          </a:p>
          <a:p>
            <a:pPr lvl="2"/>
            <a:r>
              <a:rPr lang="en-US" sz="2000" dirty="0"/>
              <a:t>    // Write the string to the file</a:t>
            </a:r>
          </a:p>
          <a:p>
            <a:pPr lvl="2"/>
            <a:r>
              <a:rPr lang="en-US" sz="2000" dirty="0"/>
              <a:t>    file &lt;&lt; "Welcome to GPP.";</a:t>
            </a:r>
          </a:p>
          <a:p>
            <a:pPr lvl="2"/>
            <a:endParaRPr lang="en-US" sz="2000" dirty="0"/>
          </a:p>
          <a:p>
            <a:pPr lvl="2"/>
            <a:r>
              <a:rPr lang="en-US" sz="2000" dirty="0"/>
              <a:t>    // Close the file</a:t>
            </a:r>
          </a:p>
          <a:p>
            <a:pPr lvl="2"/>
            <a:r>
              <a:rPr lang="en-US" sz="2000" dirty="0"/>
              <a:t>    </a:t>
            </a:r>
            <a:r>
              <a:rPr lang="en-US" sz="2000" dirty="0" err="1"/>
              <a:t>file.close</a:t>
            </a:r>
            <a:r>
              <a:rPr lang="en-US" sz="2000" dirty="0"/>
              <a:t>();</a:t>
            </a:r>
          </a:p>
          <a:p>
            <a:pPr lvl="2"/>
            <a:endParaRPr lang="en-US" sz="2000" dirty="0"/>
          </a:p>
          <a:p>
            <a:pPr lvl="2"/>
            <a:r>
              <a:rPr lang="en-US" sz="2000" dirty="0"/>
              <a:t>    return 0;</a:t>
            </a:r>
          </a:p>
          <a:p>
            <a:pPr lvl="2"/>
            <a:r>
              <a:rPr lang="en-US" sz="2000" dirty="0"/>
              <a:t>}</a:t>
            </a:r>
          </a:p>
        </p:txBody>
      </p:sp>
    </p:spTree>
    <p:extLst>
      <p:ext uri="{BB962C8B-B14F-4D97-AF65-F5344CB8AC3E}">
        <p14:creationId xmlns:p14="http://schemas.microsoft.com/office/powerpoint/2010/main" val="4215055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7972"/>
            <a:ext cx="8991600" cy="923330"/>
          </a:xfrm>
          <a:prstGeom prst="rect">
            <a:avLst/>
          </a:prstGeom>
        </p:spPr>
        <p:txBody>
          <a:bodyPr wrap="square">
            <a:spAutoFit/>
          </a:bodyPr>
          <a:lstStyle/>
          <a:p>
            <a:r>
              <a:rPr lang="en-US" b="1" dirty="0"/>
              <a:t>Read Data from </a:t>
            </a:r>
            <a:r>
              <a:rPr lang="en-US" b="1" dirty="0" smtClean="0"/>
              <a:t>File: </a:t>
            </a:r>
            <a:endParaRPr lang="en-US" b="1" dirty="0"/>
          </a:p>
          <a:p>
            <a:r>
              <a:rPr lang="en-US" dirty="0"/>
              <a:t>Once the file is opened in the read mode using either </a:t>
            </a:r>
            <a:r>
              <a:rPr lang="en-US" dirty="0" err="1"/>
              <a:t>fstream</a:t>
            </a:r>
            <a:r>
              <a:rPr lang="en-US" dirty="0"/>
              <a:t> or </a:t>
            </a:r>
            <a:r>
              <a:rPr lang="en-US" dirty="0" err="1"/>
              <a:t>ifstream</a:t>
            </a:r>
            <a:r>
              <a:rPr lang="en-US" dirty="0"/>
              <a:t>, we can perform the write operation in similar way as with </a:t>
            </a:r>
            <a:r>
              <a:rPr lang="en-US" dirty="0" err="1"/>
              <a:t>cin</a:t>
            </a:r>
            <a:r>
              <a:rPr lang="en-US" dirty="0"/>
              <a:t> using &gt;&gt; operator.</a:t>
            </a:r>
          </a:p>
        </p:txBody>
      </p:sp>
      <p:sp>
        <p:nvSpPr>
          <p:cNvPr id="3" name="Rectangle 2"/>
          <p:cNvSpPr/>
          <p:nvPr/>
        </p:nvSpPr>
        <p:spPr>
          <a:xfrm>
            <a:off x="166255" y="1002084"/>
            <a:ext cx="8686800" cy="6217087"/>
          </a:xfrm>
          <a:prstGeom prst="rect">
            <a:avLst/>
          </a:prstGeom>
        </p:spPr>
        <p:txBody>
          <a:bodyPr wrap="square">
            <a:spAutoFit/>
          </a:bodyPr>
          <a:lstStyle/>
          <a:p>
            <a:r>
              <a:rPr lang="en-US" b="1" dirty="0"/>
              <a:t>Example</a:t>
            </a:r>
            <a:r>
              <a:rPr lang="en-US" b="1" dirty="0" smtClean="0"/>
              <a:t>:</a:t>
            </a:r>
          </a:p>
          <a:p>
            <a:r>
              <a:rPr lang="en-US" sz="2000" dirty="0"/>
              <a:t>#include &lt;</a:t>
            </a:r>
            <a:r>
              <a:rPr lang="en-US" sz="2000" dirty="0" err="1"/>
              <a:t>iostream</a:t>
            </a:r>
            <a:r>
              <a:rPr lang="en-US" sz="2000" dirty="0"/>
              <a:t>&gt;</a:t>
            </a:r>
          </a:p>
          <a:p>
            <a:r>
              <a:rPr lang="en-US" sz="2000" dirty="0"/>
              <a:t>#include &lt;</a:t>
            </a:r>
            <a:r>
              <a:rPr lang="en-US" sz="2000" dirty="0" err="1"/>
              <a:t>fstream</a:t>
            </a:r>
            <a:r>
              <a:rPr lang="en-US" sz="2000" dirty="0"/>
              <a:t>&gt;   // Required for file handling</a:t>
            </a:r>
          </a:p>
          <a:p>
            <a:r>
              <a:rPr lang="en-US" sz="2000" dirty="0"/>
              <a:t>#include &lt;string&gt;    // Required for string class</a:t>
            </a:r>
          </a:p>
          <a:p>
            <a:r>
              <a:rPr lang="en-US" sz="2000" dirty="0"/>
              <a:t>using namespace </a:t>
            </a:r>
            <a:r>
              <a:rPr lang="en-US" sz="2000" dirty="0" err="1"/>
              <a:t>std</a:t>
            </a:r>
            <a:r>
              <a:rPr lang="en-US" sz="2000" dirty="0"/>
              <a:t>;</a:t>
            </a:r>
          </a:p>
          <a:p>
            <a:endParaRPr lang="en-US" sz="2000" dirty="0"/>
          </a:p>
          <a:p>
            <a:r>
              <a:rPr lang="en-US" sz="2000" dirty="0" err="1"/>
              <a:t>int</a:t>
            </a:r>
            <a:r>
              <a:rPr lang="en-US" sz="2000" dirty="0"/>
              <a:t> main() {</a:t>
            </a:r>
          </a:p>
          <a:p>
            <a:r>
              <a:rPr lang="en-US" sz="2000" dirty="0"/>
              <a:t>    // Open a file in read mode</a:t>
            </a:r>
          </a:p>
          <a:p>
            <a:r>
              <a:rPr lang="en-US" sz="2000" dirty="0"/>
              <a:t>    </a:t>
            </a:r>
            <a:r>
              <a:rPr lang="en-US" sz="2000" dirty="0" err="1"/>
              <a:t>ifstream</a:t>
            </a:r>
            <a:r>
              <a:rPr lang="en-US" sz="2000" dirty="0"/>
              <a:t> file("example.txt");</a:t>
            </a:r>
          </a:p>
          <a:p>
            <a:endParaRPr lang="en-US" sz="2000" dirty="0"/>
          </a:p>
          <a:p>
            <a:r>
              <a:rPr lang="en-US" sz="2000" dirty="0"/>
              <a:t>    string s;</a:t>
            </a:r>
          </a:p>
          <a:p>
            <a:endParaRPr lang="en-US" sz="2000" dirty="0"/>
          </a:p>
          <a:p>
            <a:r>
              <a:rPr lang="en-US" sz="2000" dirty="0"/>
              <a:t>    // Read string from the file</a:t>
            </a:r>
          </a:p>
          <a:p>
            <a:r>
              <a:rPr lang="en-US" sz="2000" dirty="0"/>
              <a:t>    file &gt;&gt; s;</a:t>
            </a:r>
          </a:p>
          <a:p>
            <a:endParaRPr lang="en-US" sz="2000" dirty="0"/>
          </a:p>
          <a:p>
            <a:r>
              <a:rPr lang="en-US" sz="2000" dirty="0"/>
              <a:t>    </a:t>
            </a:r>
            <a:r>
              <a:rPr lang="en-US" sz="2000" dirty="0" err="1"/>
              <a:t>cout</a:t>
            </a:r>
            <a:r>
              <a:rPr lang="en-US" sz="2000" dirty="0"/>
              <a:t> &lt;&lt; "Read String: " &lt;&lt; s;</a:t>
            </a:r>
          </a:p>
          <a:p>
            <a:endParaRPr lang="en-US" sz="2000" dirty="0"/>
          </a:p>
          <a:p>
            <a:r>
              <a:rPr lang="en-US" sz="2000" dirty="0"/>
              <a:t>    </a:t>
            </a:r>
            <a:r>
              <a:rPr lang="en-US" sz="2000" dirty="0" err="1"/>
              <a:t>file.close</a:t>
            </a:r>
            <a:r>
              <a:rPr lang="en-US" sz="2000" dirty="0"/>
              <a:t>(); // Always close file</a:t>
            </a:r>
          </a:p>
          <a:p>
            <a:r>
              <a:rPr lang="en-US" sz="2000" dirty="0"/>
              <a:t>    return 0;</a:t>
            </a:r>
          </a:p>
          <a:p>
            <a:r>
              <a:rPr lang="en-US" sz="2000" dirty="0"/>
              <a:t>}</a:t>
            </a:r>
          </a:p>
        </p:txBody>
      </p:sp>
      <p:sp>
        <p:nvSpPr>
          <p:cNvPr id="4" name="Rectangle 3"/>
          <p:cNvSpPr/>
          <p:nvPr/>
        </p:nvSpPr>
        <p:spPr>
          <a:xfrm>
            <a:off x="5638799" y="2438400"/>
            <a:ext cx="3442855" cy="2308324"/>
          </a:xfrm>
          <a:prstGeom prst="rect">
            <a:avLst/>
          </a:prstGeom>
        </p:spPr>
        <p:txBody>
          <a:bodyPr wrap="square">
            <a:spAutoFit/>
          </a:bodyPr>
          <a:lstStyle/>
          <a:p>
            <a:r>
              <a:rPr lang="en-US" dirty="0" smtClean="0"/>
              <a:t>//Output</a:t>
            </a:r>
            <a:endParaRPr lang="en-US" dirty="0"/>
          </a:p>
          <a:p>
            <a:r>
              <a:rPr lang="en-US" dirty="0"/>
              <a:t>Read String: Welcome</a:t>
            </a:r>
          </a:p>
          <a:p>
            <a:endParaRPr lang="en-US" dirty="0" smtClean="0"/>
          </a:p>
          <a:p>
            <a:r>
              <a:rPr lang="en-US" dirty="0" smtClean="0"/>
              <a:t>This </a:t>
            </a:r>
            <a:r>
              <a:rPr lang="en-US" dirty="0"/>
              <a:t>has same problem as </a:t>
            </a:r>
            <a:r>
              <a:rPr lang="en-US" dirty="0" err="1"/>
              <a:t>cin</a:t>
            </a:r>
            <a:r>
              <a:rPr lang="en-US" dirty="0"/>
              <a:t>. The input is only taken until the first whitespace character. To avoid this, we can use the </a:t>
            </a:r>
            <a:r>
              <a:rPr lang="en-US" dirty="0" err="1"/>
              <a:t>getline</a:t>
            </a:r>
            <a:r>
              <a:rPr lang="en-US" dirty="0"/>
              <a:t>() function as shown:</a:t>
            </a:r>
          </a:p>
        </p:txBody>
      </p:sp>
    </p:spTree>
    <p:extLst>
      <p:ext uri="{BB962C8B-B14F-4D97-AF65-F5344CB8AC3E}">
        <p14:creationId xmlns:p14="http://schemas.microsoft.com/office/powerpoint/2010/main" val="332783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610600" cy="6247864"/>
          </a:xfrm>
          <a:prstGeom prst="rect">
            <a:avLst/>
          </a:prstGeom>
        </p:spPr>
        <p:txBody>
          <a:bodyPr wrap="square">
            <a:spAutoFit/>
          </a:bodyPr>
          <a:lstStyle/>
          <a:p>
            <a:pPr lvl="2"/>
            <a:r>
              <a:rPr lang="en-US" sz="2000" dirty="0"/>
              <a:t>#include &lt;</a:t>
            </a:r>
            <a:r>
              <a:rPr lang="en-US" sz="2000" dirty="0" err="1"/>
              <a:t>iostream</a:t>
            </a:r>
            <a:r>
              <a:rPr lang="en-US" sz="2000" dirty="0"/>
              <a:t>&gt;</a:t>
            </a:r>
          </a:p>
          <a:p>
            <a:pPr lvl="2"/>
            <a:r>
              <a:rPr lang="en-US" sz="2000" dirty="0"/>
              <a:t>#include &lt;</a:t>
            </a:r>
            <a:r>
              <a:rPr lang="en-US" sz="2000" dirty="0" err="1"/>
              <a:t>fstream</a:t>
            </a:r>
            <a:r>
              <a:rPr lang="en-US" sz="2000" dirty="0"/>
              <a:t>&gt;   // required for file handling</a:t>
            </a:r>
          </a:p>
          <a:p>
            <a:pPr lvl="2"/>
            <a:r>
              <a:rPr lang="en-US" sz="2000" dirty="0"/>
              <a:t>#include &lt;string&gt;    // required for </a:t>
            </a:r>
            <a:r>
              <a:rPr lang="en-US" sz="2000" dirty="0" err="1"/>
              <a:t>getline</a:t>
            </a:r>
            <a:r>
              <a:rPr lang="en-US" sz="2000" dirty="0"/>
              <a:t> with string</a:t>
            </a:r>
          </a:p>
          <a:p>
            <a:pPr lvl="2"/>
            <a:r>
              <a:rPr lang="en-US" sz="2000" dirty="0"/>
              <a:t>using namespace </a:t>
            </a:r>
            <a:r>
              <a:rPr lang="en-US" sz="2000" dirty="0" err="1"/>
              <a:t>std</a:t>
            </a:r>
            <a:r>
              <a:rPr lang="en-US" sz="2000" dirty="0"/>
              <a:t>;</a:t>
            </a:r>
          </a:p>
          <a:p>
            <a:pPr lvl="2"/>
            <a:endParaRPr lang="en-US" sz="2000" dirty="0"/>
          </a:p>
          <a:p>
            <a:pPr lvl="2"/>
            <a:r>
              <a:rPr lang="en-US" sz="2000" dirty="0" err="1"/>
              <a:t>int</a:t>
            </a:r>
            <a:r>
              <a:rPr lang="en-US" sz="2000" dirty="0"/>
              <a:t> main() {</a:t>
            </a:r>
          </a:p>
          <a:p>
            <a:pPr lvl="2"/>
            <a:r>
              <a:rPr lang="en-US" sz="2000" dirty="0"/>
              <a:t>    // Open a file in read mode</a:t>
            </a:r>
          </a:p>
          <a:p>
            <a:pPr lvl="2"/>
            <a:r>
              <a:rPr lang="en-US" sz="2000" dirty="0"/>
              <a:t>    </a:t>
            </a:r>
            <a:r>
              <a:rPr lang="en-US" sz="2000" dirty="0" err="1"/>
              <a:t>ifstream</a:t>
            </a:r>
            <a:r>
              <a:rPr lang="en-US" sz="2000" dirty="0"/>
              <a:t> file("example.txt");  // &lt;-- fixed quotes</a:t>
            </a:r>
          </a:p>
          <a:p>
            <a:pPr lvl="2"/>
            <a:endParaRPr lang="en-US" sz="2000" dirty="0"/>
          </a:p>
          <a:p>
            <a:pPr lvl="2"/>
            <a:r>
              <a:rPr lang="en-US" sz="2000" dirty="0"/>
              <a:t>    string s;</a:t>
            </a:r>
          </a:p>
          <a:p>
            <a:pPr lvl="2"/>
            <a:endParaRPr lang="en-US" sz="2000" dirty="0"/>
          </a:p>
          <a:p>
            <a:pPr lvl="2"/>
            <a:r>
              <a:rPr lang="en-US" sz="2000" dirty="0"/>
              <a:t>    // Read string (entire line) from the file</a:t>
            </a:r>
          </a:p>
          <a:p>
            <a:pPr lvl="2"/>
            <a:r>
              <a:rPr lang="en-US" sz="2000" dirty="0"/>
              <a:t>    </a:t>
            </a:r>
            <a:r>
              <a:rPr lang="en-US" sz="2000" dirty="0" err="1"/>
              <a:t>getline</a:t>
            </a:r>
            <a:r>
              <a:rPr lang="en-US" sz="2000" dirty="0"/>
              <a:t>(file, s);</a:t>
            </a:r>
          </a:p>
          <a:p>
            <a:pPr lvl="2"/>
            <a:endParaRPr lang="en-US" sz="2000" dirty="0"/>
          </a:p>
          <a:p>
            <a:pPr lvl="2"/>
            <a:r>
              <a:rPr lang="en-US" sz="2000" dirty="0"/>
              <a:t>    </a:t>
            </a:r>
            <a:r>
              <a:rPr lang="en-US" sz="2000" dirty="0" err="1"/>
              <a:t>cout</a:t>
            </a:r>
            <a:r>
              <a:rPr lang="en-US" sz="2000" dirty="0"/>
              <a:t> &lt;&lt; "Read String: " &lt;&lt; s;</a:t>
            </a:r>
          </a:p>
          <a:p>
            <a:pPr lvl="2"/>
            <a:endParaRPr lang="en-US" sz="2000" dirty="0"/>
          </a:p>
          <a:p>
            <a:pPr lvl="2"/>
            <a:r>
              <a:rPr lang="en-US" sz="2000" dirty="0"/>
              <a:t>    </a:t>
            </a:r>
            <a:r>
              <a:rPr lang="en-US" sz="2000" dirty="0" err="1"/>
              <a:t>file.close</a:t>
            </a:r>
            <a:r>
              <a:rPr lang="en-US" sz="2000" dirty="0"/>
              <a:t>();  // good practice to close file</a:t>
            </a:r>
          </a:p>
          <a:p>
            <a:pPr lvl="2"/>
            <a:endParaRPr lang="en-US" sz="2000" dirty="0"/>
          </a:p>
          <a:p>
            <a:pPr lvl="2"/>
            <a:r>
              <a:rPr lang="en-US" sz="2000" dirty="0"/>
              <a:t>    return 0;</a:t>
            </a:r>
          </a:p>
          <a:p>
            <a:pPr lvl="2"/>
            <a:r>
              <a:rPr lang="en-US" sz="2000" dirty="0"/>
              <a:t>}</a:t>
            </a:r>
            <a:endParaRPr lang="en-US" dirty="0"/>
          </a:p>
        </p:txBody>
      </p:sp>
    </p:spTree>
    <p:extLst>
      <p:ext uri="{BB962C8B-B14F-4D97-AF65-F5344CB8AC3E}">
        <p14:creationId xmlns:p14="http://schemas.microsoft.com/office/powerpoint/2010/main" val="79894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382" y="17928"/>
            <a:ext cx="8915400" cy="8679299"/>
          </a:xfrm>
          <a:prstGeom prst="rect">
            <a:avLst/>
          </a:prstGeom>
        </p:spPr>
        <p:txBody>
          <a:bodyPr wrap="square">
            <a:spAutoFit/>
          </a:bodyPr>
          <a:lstStyle/>
          <a:p>
            <a:r>
              <a:rPr lang="en-US" b="1" dirty="0"/>
              <a:t>Closing the File</a:t>
            </a:r>
          </a:p>
          <a:p>
            <a:r>
              <a:rPr lang="en-US" dirty="0"/>
              <a:t>Closing the file means closing the associated stream and free the resources that we being used. It is important to close the file after you are done with it, especially in the long running programs to avoid memory leaks, data loss, etc.</a:t>
            </a:r>
          </a:p>
          <a:p>
            <a:endParaRPr lang="en-US" dirty="0"/>
          </a:p>
          <a:p>
            <a:r>
              <a:rPr lang="en-US" dirty="0"/>
              <a:t>In C++, the files are closed using the close() member function that is present in all file streams.</a:t>
            </a:r>
          </a:p>
          <a:p>
            <a:r>
              <a:rPr lang="en-US" dirty="0" smtClean="0"/>
              <a:t>​#</a:t>
            </a:r>
            <a:r>
              <a:rPr lang="en-US" dirty="0"/>
              <a:t>include &lt;</a:t>
            </a:r>
            <a:r>
              <a:rPr lang="en-US" dirty="0" err="1"/>
              <a:t>iostream</a:t>
            </a:r>
            <a:r>
              <a:rPr lang="en-US" dirty="0"/>
              <a:t>&gt;</a:t>
            </a:r>
          </a:p>
          <a:p>
            <a:r>
              <a:rPr lang="en-US" dirty="0"/>
              <a:t>#include &lt;</a:t>
            </a:r>
            <a:r>
              <a:rPr lang="en-US" dirty="0" err="1"/>
              <a:t>fstream</a:t>
            </a:r>
            <a:r>
              <a:rPr lang="en-US" dirty="0"/>
              <a:t>&gt;   // Required for </a:t>
            </a:r>
            <a:r>
              <a:rPr lang="en-US" dirty="0" err="1"/>
              <a:t>ifstream</a:t>
            </a:r>
            <a:endParaRPr lang="en-US" dirty="0"/>
          </a:p>
          <a:p>
            <a:r>
              <a:rPr lang="en-US" dirty="0"/>
              <a:t>#include &lt;string&gt;    // Required for </a:t>
            </a:r>
            <a:r>
              <a:rPr lang="en-US" dirty="0" err="1"/>
              <a:t>getline</a:t>
            </a:r>
            <a:r>
              <a:rPr lang="en-US" dirty="0"/>
              <a:t> with string</a:t>
            </a:r>
          </a:p>
          <a:p>
            <a:r>
              <a:rPr lang="en-US" dirty="0"/>
              <a:t>using namespace </a:t>
            </a:r>
            <a:r>
              <a:rPr lang="en-US" dirty="0" err="1"/>
              <a:t>std</a:t>
            </a:r>
            <a:r>
              <a:rPr lang="en-US" dirty="0"/>
              <a:t>;</a:t>
            </a:r>
          </a:p>
          <a:p>
            <a:r>
              <a:rPr lang="en-US" dirty="0" err="1" smtClean="0"/>
              <a:t>int</a:t>
            </a:r>
            <a:r>
              <a:rPr lang="en-US" dirty="0" smtClean="0"/>
              <a:t> </a:t>
            </a:r>
            <a:r>
              <a:rPr lang="en-US" dirty="0"/>
              <a:t>main() {</a:t>
            </a:r>
          </a:p>
          <a:p>
            <a:r>
              <a:rPr lang="en-US" dirty="0"/>
              <a:t>    // Open a file in read mode</a:t>
            </a:r>
          </a:p>
          <a:p>
            <a:r>
              <a:rPr lang="en-US" dirty="0"/>
              <a:t>    </a:t>
            </a:r>
            <a:r>
              <a:rPr lang="en-US" dirty="0" err="1"/>
              <a:t>ifstream</a:t>
            </a:r>
            <a:r>
              <a:rPr lang="en-US" dirty="0"/>
              <a:t> file("example.txt");   // make sure example.txt exists in the same folder</a:t>
            </a:r>
          </a:p>
          <a:p>
            <a:endParaRPr lang="en-US" dirty="0"/>
          </a:p>
          <a:p>
            <a:r>
              <a:rPr lang="en-US" dirty="0"/>
              <a:t>    string s;</a:t>
            </a:r>
          </a:p>
          <a:p>
            <a:endParaRPr lang="en-US" dirty="0"/>
          </a:p>
          <a:p>
            <a:r>
              <a:rPr lang="en-US" dirty="0"/>
              <a:t>    // Read string from the file</a:t>
            </a:r>
          </a:p>
          <a:p>
            <a:r>
              <a:rPr lang="en-US" dirty="0"/>
              <a:t>    </a:t>
            </a:r>
            <a:r>
              <a:rPr lang="en-US" dirty="0" err="1"/>
              <a:t>getline</a:t>
            </a:r>
            <a:r>
              <a:rPr lang="en-US" dirty="0"/>
              <a:t>(file, s);</a:t>
            </a:r>
          </a:p>
          <a:p>
            <a:endParaRPr lang="en-US" dirty="0"/>
          </a:p>
          <a:p>
            <a:r>
              <a:rPr lang="en-US" dirty="0"/>
              <a:t>    </a:t>
            </a:r>
            <a:r>
              <a:rPr lang="en-US" dirty="0" err="1"/>
              <a:t>cout</a:t>
            </a:r>
            <a:r>
              <a:rPr lang="en-US" dirty="0"/>
              <a:t> &lt;&lt; "Read String: " &lt;&lt; s;</a:t>
            </a:r>
          </a:p>
          <a:p>
            <a:endParaRPr lang="en-US" dirty="0"/>
          </a:p>
          <a:p>
            <a:r>
              <a:rPr lang="en-US" dirty="0"/>
              <a:t>    // Close the file</a:t>
            </a:r>
          </a:p>
          <a:p>
            <a:r>
              <a:rPr lang="en-US" dirty="0"/>
              <a:t>    </a:t>
            </a:r>
            <a:r>
              <a:rPr lang="en-US" dirty="0" err="1"/>
              <a:t>file.close</a:t>
            </a:r>
            <a:r>
              <a:rPr lang="en-US" dirty="0"/>
              <a:t>();</a:t>
            </a:r>
          </a:p>
          <a:p>
            <a:endParaRPr lang="en-US" dirty="0"/>
          </a:p>
          <a:p>
            <a:r>
              <a:rPr lang="en-US" dirty="0"/>
              <a:t>    return 0;</a:t>
            </a:r>
          </a:p>
          <a:p>
            <a:r>
              <a:rPr lang="en-US" dirty="0"/>
              <a:t>}</a:t>
            </a:r>
          </a:p>
          <a:p>
            <a:endParaRPr lang="en-US" dirty="0"/>
          </a:p>
          <a:p>
            <a:r>
              <a:rPr lang="en-US" dirty="0" smtClean="0"/>
              <a:t>Output</a:t>
            </a:r>
          </a:p>
          <a:p>
            <a:endParaRPr lang="en-US" dirty="0" smtClean="0"/>
          </a:p>
          <a:p>
            <a:r>
              <a:rPr lang="en-US" dirty="0" smtClean="0"/>
              <a:t>Read String: Welcome to GPP.</a:t>
            </a:r>
            <a:endParaRPr lang="en-US" dirty="0"/>
          </a:p>
        </p:txBody>
      </p:sp>
    </p:spTree>
    <p:extLst>
      <p:ext uri="{BB962C8B-B14F-4D97-AF65-F5344CB8AC3E}">
        <p14:creationId xmlns:p14="http://schemas.microsoft.com/office/powerpoint/2010/main" val="2048218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8991600" cy="3693319"/>
          </a:xfrm>
          <a:prstGeom prst="rect">
            <a:avLst/>
          </a:prstGeom>
        </p:spPr>
        <p:txBody>
          <a:bodyPr wrap="square">
            <a:spAutoFit/>
          </a:bodyPr>
          <a:lstStyle/>
          <a:p>
            <a:r>
              <a:rPr lang="en-US" b="1" dirty="0"/>
              <a:t>Delete a File in C++ </a:t>
            </a:r>
          </a:p>
          <a:p>
            <a:r>
              <a:rPr lang="en-US" dirty="0"/>
              <a:t>To remove a file in C++, we can use the remove() function defined inside the &lt;</a:t>
            </a:r>
            <a:r>
              <a:rPr lang="en-US" dirty="0" err="1"/>
              <a:t>stdio.h</a:t>
            </a:r>
            <a:r>
              <a:rPr lang="en-US" dirty="0"/>
              <a:t>&gt; header file. The remove() function takes the path of the file as a string argument and deletes the file.</a:t>
            </a:r>
          </a:p>
          <a:p>
            <a:endParaRPr lang="en-US" dirty="0"/>
          </a:p>
          <a:p>
            <a:r>
              <a:rPr lang="en-US" dirty="0"/>
              <a:t>Syntax of remove()</a:t>
            </a:r>
          </a:p>
          <a:p>
            <a:r>
              <a:rPr lang="en-US" dirty="0" smtClean="0"/>
              <a:t>		remove(char </a:t>
            </a:r>
            <a:r>
              <a:rPr lang="en-US" dirty="0"/>
              <a:t>* path)</a:t>
            </a:r>
          </a:p>
          <a:p>
            <a:r>
              <a:rPr lang="en-US" dirty="0"/>
              <a:t>where the path is the relative or even absolute path to the file.</a:t>
            </a:r>
          </a:p>
          <a:p>
            <a:endParaRPr lang="en-US" dirty="0"/>
          </a:p>
          <a:p>
            <a:r>
              <a:rPr lang="en-US" dirty="0"/>
              <a:t>If the function returns zero, the file has been successfully deleted. If the function returns a non-zero value, an error occurs.</a:t>
            </a:r>
          </a:p>
          <a:p>
            <a:endParaRPr lang="en-US" dirty="0"/>
          </a:p>
          <a:p>
            <a:r>
              <a:rPr lang="en-US" dirty="0"/>
              <a:t>C++ Program to Remove a File</a:t>
            </a:r>
          </a:p>
          <a:p>
            <a:r>
              <a:rPr lang="en-US" dirty="0"/>
              <a:t>The below example demonstrates how we can remove a file named “myfile.txt” in C++.</a:t>
            </a:r>
          </a:p>
        </p:txBody>
      </p:sp>
    </p:spTree>
    <p:extLst>
      <p:ext uri="{BB962C8B-B14F-4D97-AF65-F5344CB8AC3E}">
        <p14:creationId xmlns:p14="http://schemas.microsoft.com/office/powerpoint/2010/main" val="1142414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186309"/>
          </a:xfrm>
          <a:prstGeom prst="rect">
            <a:avLst/>
          </a:prstGeom>
        </p:spPr>
        <p:txBody>
          <a:bodyPr wrap="square">
            <a:spAutoFit/>
          </a:bodyPr>
          <a:lstStyle/>
          <a:p>
            <a:r>
              <a:rPr lang="en-US" b="1" dirty="0"/>
              <a:t>// C++ program to demonstrate how to remove a file</a:t>
            </a:r>
          </a:p>
          <a:p>
            <a:r>
              <a:rPr lang="en-US" dirty="0" smtClean="0"/>
              <a:t>​</a:t>
            </a:r>
          </a:p>
          <a:p>
            <a:r>
              <a:rPr lang="en-US" dirty="0" smtClean="0"/>
              <a:t>#</a:t>
            </a:r>
            <a:r>
              <a:rPr lang="en-US" dirty="0"/>
              <a:t>include &lt;</a:t>
            </a:r>
            <a:r>
              <a:rPr lang="en-US" dirty="0" err="1"/>
              <a:t>cstdio</a:t>
            </a:r>
            <a:r>
              <a:rPr lang="en-US" dirty="0"/>
              <a:t>&gt;    // for remove() and </a:t>
            </a:r>
            <a:r>
              <a:rPr lang="en-US" dirty="0" err="1"/>
              <a:t>perror</a:t>
            </a:r>
            <a:r>
              <a:rPr lang="en-US" dirty="0"/>
              <a:t>()</a:t>
            </a:r>
          </a:p>
          <a:p>
            <a:r>
              <a:rPr lang="en-US" dirty="0"/>
              <a:t>#include &lt;</a:t>
            </a:r>
            <a:r>
              <a:rPr lang="en-US" dirty="0" err="1"/>
              <a:t>iostream</a:t>
            </a:r>
            <a:r>
              <a:rPr lang="en-US" dirty="0"/>
              <a:t>&gt;</a:t>
            </a:r>
          </a:p>
          <a:p>
            <a:r>
              <a:rPr lang="en-US" dirty="0"/>
              <a:t>using namespace </a:t>
            </a:r>
            <a:r>
              <a:rPr lang="en-US" dirty="0" err="1"/>
              <a:t>std</a:t>
            </a:r>
            <a:r>
              <a:rPr lang="en-US" dirty="0"/>
              <a:t>;</a:t>
            </a:r>
          </a:p>
          <a:p>
            <a:endParaRPr lang="en-US" dirty="0"/>
          </a:p>
          <a:p>
            <a:r>
              <a:rPr lang="en-US" dirty="0" err="1"/>
              <a:t>int</a:t>
            </a:r>
            <a:r>
              <a:rPr lang="en-US" dirty="0"/>
              <a:t> main() {</a:t>
            </a:r>
          </a:p>
          <a:p>
            <a:r>
              <a:rPr lang="en-US" dirty="0"/>
              <a:t>    // Remove the file named "myfile.txt"</a:t>
            </a:r>
          </a:p>
          <a:p>
            <a:r>
              <a:rPr lang="en-US" dirty="0"/>
              <a:t>    </a:t>
            </a:r>
            <a:r>
              <a:rPr lang="en-US" dirty="0" err="1"/>
              <a:t>int</a:t>
            </a:r>
            <a:r>
              <a:rPr lang="en-US" dirty="0"/>
              <a:t> status = remove("myfile.txt");   </a:t>
            </a:r>
          </a:p>
          <a:p>
            <a:r>
              <a:rPr lang="en-US" dirty="0"/>
              <a:t>    // Check if the file has been successfully removed</a:t>
            </a:r>
          </a:p>
          <a:p>
            <a:r>
              <a:rPr lang="en-US" dirty="0"/>
              <a:t>    if (status != 0) {</a:t>
            </a:r>
          </a:p>
          <a:p>
            <a:r>
              <a:rPr lang="en-US" dirty="0"/>
              <a:t>        </a:t>
            </a:r>
            <a:r>
              <a:rPr lang="en-US" dirty="0" err="1"/>
              <a:t>perror</a:t>
            </a:r>
            <a:r>
              <a:rPr lang="en-US" dirty="0"/>
              <a:t>("Error deleting file");</a:t>
            </a:r>
          </a:p>
          <a:p>
            <a:r>
              <a:rPr lang="en-US" dirty="0"/>
              <a:t>    }</a:t>
            </a:r>
          </a:p>
          <a:p>
            <a:r>
              <a:rPr lang="en-US" dirty="0"/>
              <a:t>    else {</a:t>
            </a:r>
          </a:p>
          <a:p>
            <a:r>
              <a:rPr lang="en-US" dirty="0"/>
              <a:t>        </a:t>
            </a:r>
            <a:r>
              <a:rPr lang="en-US" dirty="0" err="1"/>
              <a:t>cout</a:t>
            </a:r>
            <a:r>
              <a:rPr lang="en-US" dirty="0"/>
              <a:t> &lt;&lt; "File successfully deleted" &lt;&lt; </a:t>
            </a:r>
            <a:r>
              <a:rPr lang="en-US" dirty="0" err="1"/>
              <a:t>endl</a:t>
            </a:r>
            <a:r>
              <a:rPr lang="en-US" dirty="0"/>
              <a:t>;</a:t>
            </a:r>
          </a:p>
          <a:p>
            <a:r>
              <a:rPr lang="en-US" dirty="0"/>
              <a:t>    }</a:t>
            </a:r>
          </a:p>
          <a:p>
            <a:endParaRPr lang="en-US" dirty="0"/>
          </a:p>
          <a:p>
            <a:r>
              <a:rPr lang="en-US" dirty="0"/>
              <a:t>    return 0;</a:t>
            </a:r>
          </a:p>
          <a:p>
            <a:r>
              <a:rPr lang="en-US" dirty="0"/>
              <a:t>}</a:t>
            </a:r>
          </a:p>
          <a:p>
            <a:endParaRPr lang="en-US" dirty="0"/>
          </a:p>
          <a:p>
            <a:r>
              <a:rPr lang="en-US" dirty="0" smtClean="0"/>
              <a:t>//Output</a:t>
            </a:r>
            <a:endParaRPr lang="en-US" dirty="0"/>
          </a:p>
          <a:p>
            <a:r>
              <a:rPr lang="en-US" dirty="0" smtClean="0"/>
              <a:t>File </a:t>
            </a:r>
            <a:r>
              <a:rPr lang="en-US" dirty="0"/>
              <a:t>successfully deleted</a:t>
            </a:r>
          </a:p>
        </p:txBody>
      </p:sp>
    </p:spTree>
    <p:extLst>
      <p:ext uri="{BB962C8B-B14F-4D97-AF65-F5344CB8AC3E}">
        <p14:creationId xmlns:p14="http://schemas.microsoft.com/office/powerpoint/2010/main" val="4196148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7697"/>
            <a:ext cx="8915400" cy="6186309"/>
          </a:xfrm>
          <a:prstGeom prst="rect">
            <a:avLst/>
          </a:prstGeom>
        </p:spPr>
        <p:txBody>
          <a:bodyPr wrap="square">
            <a:spAutoFit/>
          </a:bodyPr>
          <a:lstStyle/>
          <a:p>
            <a:r>
              <a:rPr lang="en-US" b="1" dirty="0">
                <a:latin typeface="Times New Roman" pitchFamily="18" charset="0"/>
                <a:cs typeface="Times New Roman" pitchFamily="18" charset="0"/>
              </a:rPr>
              <a:t>Exception Handling in C</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programming, mistakes that cause unusual conditions (errors) are common. These errors generally fall into three categories:</a:t>
            </a:r>
          </a:p>
          <a:p>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Syntax Errors – Violations of language rules (caught during compilation).</a:t>
            </a:r>
          </a:p>
          <a:p>
            <a:pPr marL="342900" indent="-342900">
              <a:buFont typeface="+mj-lt"/>
              <a:buAutoNum type="arabicPeriod"/>
            </a:pPr>
            <a:r>
              <a:rPr lang="en-US" dirty="0">
                <a:latin typeface="Times New Roman" pitchFamily="18" charset="0"/>
                <a:cs typeface="Times New Roman" pitchFamily="18" charset="0"/>
              </a:rPr>
              <a:t>Logical Errors – Code runs but produces incorrect results due to wrong logic.</a:t>
            </a:r>
          </a:p>
          <a:p>
            <a:pPr marL="342900" indent="-342900">
              <a:buFont typeface="+mj-lt"/>
              <a:buAutoNum type="arabicPeriod"/>
            </a:pPr>
            <a:r>
              <a:rPr lang="en-US" dirty="0">
                <a:latin typeface="Times New Roman" pitchFamily="18" charset="0"/>
                <a:cs typeface="Times New Roman" pitchFamily="18" charset="0"/>
              </a:rPr>
              <a:t>Runtime Errors – Unexpected errors that occur during program execution (e.g., division by zero).</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What </a:t>
            </a:r>
            <a:r>
              <a:rPr lang="en-US" b="1" dirty="0">
                <a:latin typeface="Times New Roman" pitchFamily="18" charset="0"/>
                <a:cs typeface="Times New Roman" pitchFamily="18" charset="0"/>
              </a:rPr>
              <a:t>is Exception Handling?</a:t>
            </a:r>
          </a:p>
          <a:p>
            <a:r>
              <a:rPr lang="en-US" dirty="0">
                <a:latin typeface="Times New Roman" pitchFamily="18" charset="0"/>
                <a:cs typeface="Times New Roman" pitchFamily="18" charset="0"/>
              </a:rPr>
              <a:t>Exception handling in C++ is a mechanism to detect and manage runtime errors in a structured way.</a:t>
            </a:r>
          </a:p>
          <a:p>
            <a:r>
              <a:rPr lang="en-US" dirty="0">
                <a:latin typeface="Times New Roman" pitchFamily="18" charset="0"/>
                <a:cs typeface="Times New Roman" pitchFamily="18" charset="0"/>
              </a:rPr>
              <a:t>Instead of terminating the program abruptly when an error occurs, C++ allows you to throw exceptions and catch them for graceful handling.</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Common examples:</a:t>
            </a:r>
          </a:p>
          <a:p>
            <a:r>
              <a:rPr lang="en-US" dirty="0" smtClean="0">
                <a:latin typeface="Times New Roman" pitchFamily="18" charset="0"/>
                <a:cs typeface="Times New Roman" pitchFamily="18" charset="0"/>
              </a:rPr>
              <a:t>Division </a:t>
            </a:r>
            <a:r>
              <a:rPr lang="en-US" dirty="0">
                <a:latin typeface="Times New Roman" pitchFamily="18" charset="0"/>
                <a:cs typeface="Times New Roman" pitchFamily="18" charset="0"/>
              </a:rPr>
              <a:t>by zero</a:t>
            </a:r>
          </a:p>
          <a:p>
            <a:r>
              <a:rPr lang="en-US" dirty="0">
                <a:latin typeface="Times New Roman" pitchFamily="18" charset="0"/>
                <a:cs typeface="Times New Roman" pitchFamily="18" charset="0"/>
              </a:rPr>
              <a:t>Accessing invalid memory</a:t>
            </a:r>
          </a:p>
          <a:p>
            <a:r>
              <a:rPr lang="en-US" dirty="0">
                <a:latin typeface="Times New Roman" pitchFamily="18" charset="0"/>
                <a:cs typeface="Times New Roman" pitchFamily="18" charset="0"/>
              </a:rPr>
              <a:t>File I/O failures</a:t>
            </a:r>
          </a:p>
          <a:p>
            <a:r>
              <a:rPr lang="en-US" dirty="0">
                <a:latin typeface="Times New Roman" pitchFamily="18" charset="0"/>
                <a:cs typeface="Times New Roman" pitchFamily="18" charset="0"/>
              </a:rPr>
              <a:t>The main goal of exception handling is to keep regular program logic separate from error-handling logic. To handle exceptions, C++ uses try and catch blocks, where try contains the code that may throw an exception, and catch contains the code to handle it.</a:t>
            </a:r>
          </a:p>
        </p:txBody>
      </p:sp>
    </p:spTree>
    <p:extLst>
      <p:ext uri="{BB962C8B-B14F-4D97-AF65-F5344CB8AC3E}">
        <p14:creationId xmlns:p14="http://schemas.microsoft.com/office/powerpoint/2010/main" val="3634693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382000" cy="3416320"/>
          </a:xfrm>
          <a:prstGeom prst="rect">
            <a:avLst/>
          </a:prstGeom>
        </p:spPr>
        <p:txBody>
          <a:bodyPr wrap="square">
            <a:spAutoFit/>
          </a:bodyPr>
          <a:lstStyle/>
          <a:p>
            <a:r>
              <a:rPr lang="en-US" dirty="0">
                <a:latin typeface="Times New Roman" pitchFamily="18" charset="0"/>
                <a:cs typeface="Times New Roman" pitchFamily="18" charset="0"/>
              </a:rPr>
              <a:t>How Exception Handling Works in C++</a:t>
            </a:r>
          </a:p>
          <a:p>
            <a:r>
              <a:rPr lang="en-US" dirty="0">
                <a:latin typeface="Times New Roman" pitchFamily="18" charset="0"/>
                <a:cs typeface="Times New Roman" pitchFamily="18" charset="0"/>
              </a:rPr>
              <a:t>1. Throwing an Exception</a:t>
            </a:r>
          </a:p>
          <a:p>
            <a:r>
              <a:rPr lang="en-US" dirty="0">
                <a:latin typeface="Times New Roman" pitchFamily="18" charset="0"/>
                <a:cs typeface="Times New Roman" pitchFamily="18" charset="0"/>
              </a:rPr>
              <a:t>When an error or unexpected situation occurs, the program uses the throw keyword to signal an exception.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2. Catching an Exception</a:t>
            </a:r>
          </a:p>
          <a:p>
            <a:r>
              <a:rPr lang="en-US" dirty="0">
                <a:latin typeface="Times New Roman" pitchFamily="18" charset="0"/>
                <a:cs typeface="Times New Roman" pitchFamily="18" charset="0"/>
              </a:rPr>
              <a:t>The program searches for a matching catch block to intercept and handle the thrown exception.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3. Handling the Exception</a:t>
            </a:r>
          </a:p>
          <a:p>
            <a:r>
              <a:rPr lang="en-US" dirty="0">
                <a:latin typeface="Times New Roman" pitchFamily="18" charset="0"/>
                <a:cs typeface="Times New Roman" pitchFamily="18" charset="0"/>
              </a:rPr>
              <a:t>The catch block contains the logic to respond to the error, allowing the program to recover or terminate gracefully.</a:t>
            </a:r>
          </a:p>
        </p:txBody>
      </p:sp>
    </p:spTree>
    <p:extLst>
      <p:ext uri="{BB962C8B-B14F-4D97-AF65-F5344CB8AC3E}">
        <p14:creationId xmlns:p14="http://schemas.microsoft.com/office/powerpoint/2010/main" val="1660597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52400"/>
            <a:ext cx="8382000" cy="5078313"/>
          </a:xfrm>
          <a:prstGeom prst="rect">
            <a:avLst/>
          </a:prstGeom>
        </p:spPr>
        <p:txBody>
          <a:bodyPr wrap="square">
            <a:spAutoFit/>
          </a:bodyPr>
          <a:lstStyle/>
          <a:p>
            <a:r>
              <a:rPr lang="en-US" b="1" dirty="0">
                <a:latin typeface="Times New Roman" pitchFamily="18" charset="0"/>
                <a:cs typeface="Times New Roman" pitchFamily="18" charset="0"/>
              </a:rPr>
              <a:t>try-catch Block</a:t>
            </a:r>
          </a:p>
          <a:p>
            <a:r>
              <a:rPr lang="en-US" dirty="0">
                <a:latin typeface="Times New Roman" pitchFamily="18" charset="0"/>
                <a:cs typeface="Times New Roman" pitchFamily="18" charset="0"/>
              </a:rPr>
              <a:t>C++ provides an inbuilt feature for handling exceptions using try and catch block. It is an exception handling mechanism where the code that may cause an exception is placed inside the try block and the code that handles the exception is placed inside the catch block.</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Syntax</a:t>
            </a:r>
          </a:p>
          <a:p>
            <a:endParaRPr lang="en-US" dirty="0">
              <a:latin typeface="Times New Roman" pitchFamily="18" charset="0"/>
              <a:cs typeface="Times New Roman" pitchFamily="18" charset="0"/>
            </a:endParaRPr>
          </a:p>
          <a:p>
            <a:pPr lvl="3"/>
            <a:r>
              <a:rPr lang="en-US" dirty="0">
                <a:latin typeface="Times New Roman" pitchFamily="18" charset="0"/>
                <a:cs typeface="Times New Roman" pitchFamily="18" charset="0"/>
              </a:rPr>
              <a:t>try {         </a:t>
            </a:r>
          </a:p>
          <a:p>
            <a:pPr lvl="3"/>
            <a:r>
              <a:rPr lang="en-US" dirty="0">
                <a:latin typeface="Times New Roman" pitchFamily="18" charset="0"/>
                <a:cs typeface="Times New Roman" pitchFamily="18" charset="0"/>
              </a:rPr>
              <a:t>    // Code that might throw an exception</a:t>
            </a:r>
          </a:p>
          <a:p>
            <a:pPr lvl="3"/>
            <a:r>
              <a:rPr lang="en-US" dirty="0">
                <a:latin typeface="Times New Roman" pitchFamily="18" charset="0"/>
                <a:cs typeface="Times New Roman" pitchFamily="18" charset="0"/>
              </a:rPr>
              <a:t>} </a:t>
            </a:r>
          </a:p>
          <a:p>
            <a:pPr lvl="3"/>
            <a:r>
              <a:rPr lang="en-US" dirty="0">
                <a:latin typeface="Times New Roman" pitchFamily="18" charset="0"/>
                <a:cs typeface="Times New Roman" pitchFamily="18" charset="0"/>
              </a:rPr>
              <a:t>catch (</a:t>
            </a:r>
            <a:r>
              <a:rPr lang="en-US" dirty="0" err="1">
                <a:latin typeface="Times New Roman" pitchFamily="18" charset="0"/>
                <a:cs typeface="Times New Roman" pitchFamily="18" charset="0"/>
              </a:rPr>
              <a:t>ExceptionType</a:t>
            </a:r>
            <a:r>
              <a:rPr lang="en-US" dirty="0">
                <a:latin typeface="Times New Roman" pitchFamily="18" charset="0"/>
                <a:cs typeface="Times New Roman" pitchFamily="18" charset="0"/>
              </a:rPr>
              <a:t> e) {   </a:t>
            </a:r>
          </a:p>
          <a:p>
            <a:pPr lvl="3"/>
            <a:r>
              <a:rPr lang="en-US" dirty="0">
                <a:latin typeface="Times New Roman" pitchFamily="18" charset="0"/>
                <a:cs typeface="Times New Roman" pitchFamily="18" charset="0"/>
              </a:rPr>
              <a:t>    // exception handling code</a:t>
            </a:r>
          </a:p>
          <a:p>
            <a:pPr lvl="3"/>
            <a:r>
              <a:rPr lang="en-US" dirty="0" smtClean="0">
                <a:latin typeface="Times New Roman" pitchFamily="18" charset="0"/>
                <a:cs typeface="Times New Roman" pitchFamily="18" charset="0"/>
              </a:rPr>
              <a:t>}</a:t>
            </a:r>
          </a:p>
          <a:p>
            <a:pPr lvl="3"/>
            <a:endParaRPr lang="en-US" dirty="0">
              <a:latin typeface="Times New Roman" pitchFamily="18" charset="0"/>
              <a:cs typeface="Times New Roman" pitchFamily="18" charset="0"/>
            </a:endParaRPr>
          </a:p>
          <a:p>
            <a:pPr lvl="3"/>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When an exception occurs in try block, the execution stops, and the control goes to the matching catch block for handling.</a:t>
            </a:r>
          </a:p>
        </p:txBody>
      </p:sp>
    </p:spTree>
    <p:extLst>
      <p:ext uri="{BB962C8B-B14F-4D97-AF65-F5344CB8AC3E}">
        <p14:creationId xmlns:p14="http://schemas.microsoft.com/office/powerpoint/2010/main" val="1746643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86800" cy="5078313"/>
          </a:xfrm>
          <a:prstGeom prst="rect">
            <a:avLst/>
          </a:prstGeom>
        </p:spPr>
        <p:txBody>
          <a:bodyPr wrap="square">
            <a:spAutoFit/>
          </a:bodyPr>
          <a:lstStyle/>
          <a:p>
            <a:r>
              <a:rPr lang="en-US" b="1" dirty="0">
                <a:latin typeface="Times New Roman" pitchFamily="18" charset="0"/>
                <a:cs typeface="Times New Roman" pitchFamily="18" charset="0"/>
              </a:rPr>
              <a:t>Throwing Exceptions</a:t>
            </a:r>
          </a:p>
          <a:p>
            <a:r>
              <a:rPr lang="en-US" dirty="0">
                <a:latin typeface="Times New Roman" pitchFamily="18" charset="0"/>
                <a:cs typeface="Times New Roman" pitchFamily="18" charset="0"/>
              </a:rPr>
              <a:t>Throwing exception means returning some kind of value that represent the exception from the try block. The matching catch block is found using the type of the thrown value. The throw keyword is used to throw the exception.</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lvl="3"/>
            <a:r>
              <a:rPr lang="en-US" dirty="0">
                <a:latin typeface="Times New Roman" pitchFamily="18" charset="0"/>
                <a:cs typeface="Times New Roman" pitchFamily="18" charset="0"/>
              </a:rPr>
              <a:t>try {         </a:t>
            </a:r>
          </a:p>
          <a:p>
            <a:pPr lvl="3"/>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val</a:t>
            </a:r>
            <a:endParaRPr lang="en-US" dirty="0">
              <a:latin typeface="Times New Roman" pitchFamily="18" charset="0"/>
              <a:cs typeface="Times New Roman" pitchFamily="18" charset="0"/>
            </a:endParaRPr>
          </a:p>
          <a:p>
            <a:pPr lvl="3"/>
            <a:r>
              <a:rPr lang="en-US" dirty="0">
                <a:latin typeface="Times New Roman" pitchFamily="18" charset="0"/>
                <a:cs typeface="Times New Roman" pitchFamily="18" charset="0"/>
              </a:rPr>
              <a:t>} </a:t>
            </a:r>
          </a:p>
          <a:p>
            <a:pPr lvl="3"/>
            <a:r>
              <a:rPr lang="en-US" dirty="0">
                <a:latin typeface="Times New Roman" pitchFamily="18" charset="0"/>
                <a:cs typeface="Times New Roman" pitchFamily="18" charset="0"/>
              </a:rPr>
              <a:t>catch (</a:t>
            </a:r>
            <a:r>
              <a:rPr lang="en-US" dirty="0" err="1">
                <a:latin typeface="Times New Roman" pitchFamily="18" charset="0"/>
                <a:cs typeface="Times New Roman" pitchFamily="18" charset="0"/>
              </a:rPr>
              <a:t>ExceptionType</a:t>
            </a:r>
            <a:r>
              <a:rPr lang="en-US" dirty="0">
                <a:latin typeface="Times New Roman" pitchFamily="18" charset="0"/>
                <a:cs typeface="Times New Roman" pitchFamily="18" charset="0"/>
              </a:rPr>
              <a:t> e) {   </a:t>
            </a:r>
          </a:p>
          <a:p>
            <a:pPr lvl="3"/>
            <a:r>
              <a:rPr lang="en-US" dirty="0">
                <a:latin typeface="Times New Roman" pitchFamily="18" charset="0"/>
                <a:cs typeface="Times New Roman" pitchFamily="18" charset="0"/>
              </a:rPr>
              <a:t>    // exception handling code</a:t>
            </a:r>
          </a:p>
          <a:p>
            <a:pPr lvl="3"/>
            <a:r>
              <a:rPr lang="en-US" dirty="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There </a:t>
            </a:r>
            <a:r>
              <a:rPr lang="en-US" dirty="0">
                <a:latin typeface="Times New Roman" pitchFamily="18" charset="0"/>
                <a:cs typeface="Times New Roman" pitchFamily="18" charset="0"/>
              </a:rPr>
              <a:t>are three types of values that can be thrown as an exception:</a:t>
            </a:r>
          </a:p>
          <a:p>
            <a:pPr marL="342900" indent="-342900">
              <a:buFont typeface="+mj-lt"/>
              <a:buAutoNum type="arabicPeriod"/>
            </a:pPr>
            <a:r>
              <a:rPr lang="en-US" dirty="0" smtClean="0">
                <a:latin typeface="Times New Roman" pitchFamily="18" charset="0"/>
                <a:cs typeface="Times New Roman" pitchFamily="18" charset="0"/>
              </a:rPr>
              <a:t>Built-in </a:t>
            </a:r>
            <a:r>
              <a:rPr lang="en-US" dirty="0">
                <a:latin typeface="Times New Roman" pitchFamily="18" charset="0"/>
                <a:cs typeface="Times New Roman" pitchFamily="18" charset="0"/>
              </a:rPr>
              <a:t>Types</a:t>
            </a:r>
          </a:p>
          <a:p>
            <a:pPr marL="342900" indent="-342900">
              <a:buFont typeface="+mj-lt"/>
              <a:buAutoNum type="arabicPeriod"/>
            </a:pPr>
            <a:r>
              <a:rPr lang="en-US" dirty="0">
                <a:latin typeface="Times New Roman" pitchFamily="18" charset="0"/>
                <a:cs typeface="Times New Roman" pitchFamily="18" charset="0"/>
              </a:rPr>
              <a:t>Standard Exceptions</a:t>
            </a:r>
          </a:p>
          <a:p>
            <a:pPr marL="342900" indent="-342900">
              <a:buFont typeface="+mj-lt"/>
              <a:buAutoNum type="arabicPeriod"/>
            </a:pPr>
            <a:r>
              <a:rPr lang="en-US" dirty="0">
                <a:latin typeface="Times New Roman" pitchFamily="18" charset="0"/>
                <a:cs typeface="Times New Roman" pitchFamily="18" charset="0"/>
              </a:rPr>
              <a:t>Custom Exceptions</a:t>
            </a:r>
          </a:p>
        </p:txBody>
      </p:sp>
    </p:spTree>
    <p:extLst>
      <p:ext uri="{BB962C8B-B14F-4D97-AF65-F5344CB8AC3E}">
        <p14:creationId xmlns:p14="http://schemas.microsoft.com/office/powerpoint/2010/main" val="3385275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9445"/>
            <a:ext cx="8686800" cy="6740307"/>
          </a:xfrm>
          <a:prstGeom prst="rect">
            <a:avLst/>
          </a:prstGeom>
        </p:spPr>
        <p:txBody>
          <a:bodyPr wrap="square">
            <a:spAutoFit/>
          </a:bodyPr>
          <a:lstStyle/>
          <a:p>
            <a:r>
              <a:rPr lang="en-US" b="1" dirty="0">
                <a:latin typeface="Times New Roman" pitchFamily="18" charset="0"/>
                <a:cs typeface="Times New Roman" pitchFamily="18" charset="0"/>
              </a:rPr>
              <a:t>Throwing Built-in Types</a:t>
            </a:r>
          </a:p>
          <a:p>
            <a:r>
              <a:rPr lang="en-US" dirty="0">
                <a:latin typeface="Times New Roman" pitchFamily="18" charset="0"/>
                <a:cs typeface="Times New Roman" pitchFamily="18" charset="0"/>
              </a:rPr>
              <a:t>Throwing built-in types is very simple but it does not provide any useful information. For </a:t>
            </a:r>
            <a:r>
              <a:rPr lang="en-US" b="1" dirty="0">
                <a:latin typeface="Times New Roman" pitchFamily="18" charset="0"/>
                <a:cs typeface="Times New Roman" pitchFamily="18" charset="0"/>
              </a:rPr>
              <a:t>example,</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x = 7;</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if (x % 2 != 0)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Throwing </a:t>
            </a:r>
            <a:r>
              <a:rPr lang="en-US" dirty="0" err="1" smtClean="0">
                <a:latin typeface="Times New Roman" pitchFamily="18" charset="0"/>
                <a:cs typeface="Times New Roman" pitchFamily="18" charset="0"/>
              </a:rPr>
              <a:t>int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throw -1;</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Catching </a:t>
            </a:r>
            <a:r>
              <a:rPr lang="en-US" dirty="0" err="1">
                <a:latin typeface="Times New Roman" pitchFamily="18" charset="0"/>
                <a:cs typeface="Times New Roman" pitchFamily="18" charset="0"/>
              </a:rPr>
              <a:t>int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"Exception Caught: " &lt;&lt; e;</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Exception Caught: -</a:t>
            </a:r>
            <a:r>
              <a:rPr lang="en-US" dirty="0" smtClean="0">
                <a:latin typeface="Times New Roman" pitchFamily="18" charset="0"/>
                <a:cs typeface="Times New Roman" pitchFamily="18" charset="0"/>
              </a:rPr>
              <a:t>1</a:t>
            </a:r>
            <a:endParaRPr lang="en-US" dirty="0">
              <a:latin typeface="Times New Roman" pitchFamily="18" charset="0"/>
              <a:cs typeface="Times New Roman" pitchFamily="18" charset="0"/>
            </a:endParaRPr>
          </a:p>
        </p:txBody>
      </p:sp>
      <p:sp>
        <p:nvSpPr>
          <p:cNvPr id="3" name="TextBox 2"/>
          <p:cNvSpPr txBox="1"/>
          <p:nvPr/>
        </p:nvSpPr>
        <p:spPr>
          <a:xfrm>
            <a:off x="4648200" y="2209800"/>
            <a:ext cx="4343400" cy="2585323"/>
          </a:xfrm>
          <a:prstGeom prst="rect">
            <a:avLst/>
          </a:prstGeom>
          <a:noFill/>
        </p:spPr>
        <p:txBody>
          <a:bodyPr wrap="square" rtlCol="0">
            <a:spAutoFit/>
          </a:bodyPr>
          <a:lstStyle/>
          <a:p>
            <a:r>
              <a:rPr lang="en-US" dirty="0">
                <a:latin typeface="Times New Roman" pitchFamily="18" charset="0"/>
                <a:cs typeface="Times New Roman" pitchFamily="18" charset="0"/>
              </a:rPr>
              <a:t>Here, we have to make decision based on the value thrown. It is not much different from handling errors using if else. There is a better technique available in C++. Instead of throwing simple values, we can throw objects of classes that contains the information about the nature of exception in themselves.</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094689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 y="152400"/>
            <a:ext cx="8763000" cy="2031325"/>
          </a:xfrm>
          <a:prstGeom prst="rect">
            <a:avLst/>
          </a:prstGeom>
        </p:spPr>
        <p:txBody>
          <a:bodyPr wrap="square">
            <a:spAutoFit/>
          </a:bodyPr>
          <a:lstStyle/>
          <a:p>
            <a:r>
              <a:rPr lang="en-US" b="1" dirty="0">
                <a:latin typeface="Times New Roman" pitchFamily="18" charset="0"/>
                <a:cs typeface="Times New Roman" pitchFamily="18" charset="0"/>
              </a:rPr>
              <a:t>Throwing Standard </a:t>
            </a:r>
            <a:r>
              <a:rPr lang="en-US" b="1" dirty="0" smtClean="0">
                <a:latin typeface="Times New Roman" pitchFamily="18" charset="0"/>
                <a:cs typeface="Times New Roman" pitchFamily="18" charset="0"/>
              </a:rPr>
              <a:t>Exceptions: </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Standard exceptions are the set of classes that represent different types of common exceptions. All these classes are defined inside &lt;</a:t>
            </a:r>
            <a:r>
              <a:rPr lang="en-US" dirty="0" err="1">
                <a:latin typeface="Times New Roman" pitchFamily="18" charset="0"/>
                <a:cs typeface="Times New Roman" pitchFamily="18" charset="0"/>
              </a:rPr>
              <a:t>stdexcept</a:t>
            </a:r>
            <a:r>
              <a:rPr lang="en-US" dirty="0">
                <a:latin typeface="Times New Roman" pitchFamily="18" charset="0"/>
                <a:cs typeface="Times New Roman" pitchFamily="18" charset="0"/>
              </a:rPr>
              <a:t>&gt; header file and mainly derived from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::exception class which act as the base class for inbuilt exceptions. The below image shows standard exceptions hierarchy in C</a:t>
            </a:r>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69342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5643265"/>
            <a:ext cx="8534400" cy="923330"/>
          </a:xfrm>
          <a:prstGeom prst="rect">
            <a:avLst/>
          </a:prstGeom>
        </p:spPr>
        <p:txBody>
          <a:bodyPr wrap="square">
            <a:spAutoFit/>
          </a:bodyPr>
          <a:lstStyle/>
          <a:p>
            <a:r>
              <a:rPr lang="en-US" dirty="0">
                <a:latin typeface="Times New Roman" pitchFamily="18" charset="0"/>
                <a:cs typeface="Times New Roman" pitchFamily="18" charset="0"/>
              </a:rPr>
              <a:t>These exceptions are thrown by C++ library components so we should know how to handle them. The what() method is present in every standard exception to provide information about the exception itself.</a:t>
            </a:r>
          </a:p>
        </p:txBody>
      </p:sp>
    </p:spTree>
    <p:extLst>
      <p:ext uri="{BB962C8B-B14F-4D97-AF65-F5344CB8AC3E}">
        <p14:creationId xmlns:p14="http://schemas.microsoft.com/office/powerpoint/2010/main" val="3833521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534400" cy="6186309"/>
          </a:xfrm>
          <a:prstGeom prst="rect">
            <a:avLst/>
          </a:prstGeom>
        </p:spPr>
        <p:txBody>
          <a:bodyPr wrap="square">
            <a:spAutoFit/>
          </a:bodyPr>
          <a:lstStyle/>
          <a:p>
            <a:r>
              <a:rPr lang="en-US" dirty="0">
                <a:latin typeface="Times New Roman" pitchFamily="18" charset="0"/>
                <a:cs typeface="Times New Roman" pitchFamily="18" charset="0"/>
              </a:rPr>
              <a:t>For example, the vector at() method throws an </a:t>
            </a:r>
            <a:r>
              <a:rPr lang="en-US" dirty="0" err="1">
                <a:latin typeface="Times New Roman" pitchFamily="18" charset="0"/>
                <a:cs typeface="Times New Roman" pitchFamily="18" charset="0"/>
              </a:rPr>
              <a:t>out_of_range</a:t>
            </a:r>
            <a:r>
              <a:rPr lang="en-US" dirty="0">
                <a:latin typeface="Times New Roman" pitchFamily="18" charset="0"/>
                <a:cs typeface="Times New Roman" pitchFamily="18" charset="0"/>
              </a:rPr>
              <a:t> exception when the element with given index does not exists.</a:t>
            </a:r>
          </a:p>
          <a:p>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vector&lt;</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&gt; v = {1, 2, 3};</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 Accessing out of bound element</a:t>
            </a:r>
          </a:p>
          <a:p>
            <a:r>
              <a:rPr lang="en-US" dirty="0">
                <a:latin typeface="Times New Roman" pitchFamily="18" charset="0"/>
                <a:cs typeface="Times New Roman" pitchFamily="18" charset="0"/>
              </a:rPr>
              <a:t>        v.at(10);</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out_of_range</a:t>
            </a:r>
            <a:r>
              <a:rPr lang="en-US" dirty="0">
                <a:latin typeface="Times New Roman" pitchFamily="18" charset="0"/>
                <a:cs typeface="Times New Roman" pitchFamily="18" charset="0"/>
              </a:rPr>
              <a:t> 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Caught: vector::_</a:t>
            </a:r>
            <a:r>
              <a:rPr lang="en-US" dirty="0" err="1">
                <a:latin typeface="Times New Roman" pitchFamily="18" charset="0"/>
                <a:cs typeface="Times New Roman" pitchFamily="18" charset="0"/>
              </a:rPr>
              <a:t>M_range_check</a:t>
            </a:r>
            <a:r>
              <a:rPr lang="en-US" dirty="0">
                <a:latin typeface="Times New Roman" pitchFamily="18" charset="0"/>
                <a:cs typeface="Times New Roman" pitchFamily="18" charset="0"/>
              </a:rPr>
              <a:t>: __n (which is 10) &gt;= this-&gt;size() (which is 3)</a:t>
            </a:r>
          </a:p>
          <a:p>
            <a:r>
              <a:rPr lang="en-US" dirty="0">
                <a:latin typeface="Times New Roman" pitchFamily="18" charset="0"/>
                <a:cs typeface="Times New Roman" pitchFamily="18" charset="0"/>
              </a:rPr>
              <a:t>We can also manually throw standard exceptions using throw statement.</a:t>
            </a:r>
          </a:p>
        </p:txBody>
      </p:sp>
    </p:spTree>
    <p:extLst>
      <p:ext uri="{BB962C8B-B14F-4D97-AF65-F5344CB8AC3E}">
        <p14:creationId xmlns:p14="http://schemas.microsoft.com/office/powerpoint/2010/main" val="2537426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5038"/>
            <a:ext cx="8686800" cy="4801314"/>
          </a:xfrm>
          <a:prstGeom prst="rect">
            <a:avLst/>
          </a:prstGeom>
        </p:spPr>
        <p:txBody>
          <a:bodyPr wrap="square">
            <a:spAutoFit/>
          </a:bodyPr>
          <a:lstStyle/>
          <a:p>
            <a:r>
              <a:rPr lang="en-US" b="1" dirty="0">
                <a:latin typeface="Times New Roman" pitchFamily="18" charset="0"/>
                <a:cs typeface="Times New Roman" pitchFamily="18" charset="0"/>
              </a:rPr>
              <a:t>Throwing Custom </a:t>
            </a:r>
            <a:r>
              <a:rPr lang="en-US" b="1" dirty="0" smtClean="0">
                <a:latin typeface="Times New Roman" pitchFamily="18" charset="0"/>
                <a:cs typeface="Times New Roman" pitchFamily="18" charset="0"/>
              </a:rPr>
              <a:t>Exceptions :</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When the standard exceptions cannot satisfy our requirement, we can create a custom exception class. It is recommended to inherit standard exception in this class to provide seamless integrity with library components though, it is not compulsory.</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Refer to the article to know more - Exception Handling using Classes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Catching Exceptions</a:t>
            </a:r>
          </a:p>
          <a:p>
            <a:r>
              <a:rPr lang="en-US" dirty="0">
                <a:latin typeface="Times New Roman" pitchFamily="18" charset="0"/>
                <a:cs typeface="Times New Roman" pitchFamily="18" charset="0"/>
              </a:rPr>
              <a:t>As already told, the catch block is used to catch the exceptions thrown in the try block. The catch block takes one argument, which should be of the same type as the exception.</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lvl="2"/>
            <a:r>
              <a:rPr lang="en-US" dirty="0">
                <a:latin typeface="Times New Roman" pitchFamily="18" charset="0"/>
                <a:cs typeface="Times New Roman" pitchFamily="18" charset="0"/>
              </a:rPr>
              <a:t>catch (</a:t>
            </a:r>
            <a:r>
              <a:rPr lang="en-US" dirty="0" err="1">
                <a:latin typeface="Times New Roman" pitchFamily="18" charset="0"/>
                <a:cs typeface="Times New Roman" pitchFamily="18" charset="0"/>
              </a:rPr>
              <a:t>exceptionType</a:t>
            </a:r>
            <a:r>
              <a:rPr lang="en-US" dirty="0">
                <a:latin typeface="Times New Roman" pitchFamily="18" charset="0"/>
                <a:cs typeface="Times New Roman" pitchFamily="18" charset="0"/>
              </a:rPr>
              <a:t> e) {</a:t>
            </a:r>
          </a:p>
          <a:p>
            <a:pPr lvl="2"/>
            <a:r>
              <a:rPr lang="en-US" dirty="0">
                <a:latin typeface="Times New Roman" pitchFamily="18" charset="0"/>
                <a:cs typeface="Times New Roman" pitchFamily="18" charset="0"/>
              </a:rPr>
              <a:t>    ...</a:t>
            </a:r>
          </a:p>
          <a:p>
            <a:pPr lvl="2"/>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Here, e is the name given to the exception. Statements inside the catch block will be executed if the exception of </a:t>
            </a:r>
            <a:r>
              <a:rPr lang="en-US" dirty="0" err="1">
                <a:latin typeface="Times New Roman" pitchFamily="18" charset="0"/>
                <a:cs typeface="Times New Roman" pitchFamily="18" charset="0"/>
              </a:rPr>
              <a:t>exceptionType</a:t>
            </a:r>
            <a:r>
              <a:rPr lang="en-US" dirty="0">
                <a:latin typeface="Times New Roman" pitchFamily="18" charset="0"/>
                <a:cs typeface="Times New Roman" pitchFamily="18" charset="0"/>
              </a:rPr>
              <a:t> is thrown in try block.</a:t>
            </a:r>
          </a:p>
        </p:txBody>
      </p:sp>
    </p:spTree>
    <p:extLst>
      <p:ext uri="{BB962C8B-B14F-4D97-AF65-F5344CB8AC3E}">
        <p14:creationId xmlns:p14="http://schemas.microsoft.com/office/powerpoint/2010/main" val="3526862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847"/>
            <a:ext cx="8610600" cy="5632311"/>
          </a:xfrm>
          <a:prstGeom prst="rect">
            <a:avLst/>
          </a:prstGeom>
        </p:spPr>
        <p:txBody>
          <a:bodyPr wrap="square">
            <a:spAutoFit/>
          </a:bodyPr>
          <a:lstStyle/>
          <a:p>
            <a:r>
              <a:rPr lang="en-US" b="1" dirty="0">
                <a:latin typeface="Times New Roman" pitchFamily="18" charset="0"/>
                <a:cs typeface="Times New Roman" pitchFamily="18" charset="0"/>
              </a:rPr>
              <a:t>Catching Multiple Exceptions</a:t>
            </a:r>
          </a:p>
          <a:p>
            <a:r>
              <a:rPr lang="en-US" dirty="0">
                <a:latin typeface="Times New Roman" pitchFamily="18" charset="0"/>
                <a:cs typeface="Times New Roman" pitchFamily="18" charset="0"/>
              </a:rPr>
              <a:t>There can be multiple catch blocks associated with a single try block to handle multiple types of exceptions. For example,</a:t>
            </a:r>
          </a:p>
          <a:p>
            <a:endParaRPr lang="en-US" dirty="0">
              <a:latin typeface="Times New Roman" pitchFamily="18" charset="0"/>
              <a:cs typeface="Times New Roman" pitchFamily="18" charset="0"/>
            </a:endParaRPr>
          </a:p>
          <a:p>
            <a:pPr lvl="4"/>
            <a:r>
              <a:rPr lang="en-US" dirty="0" smtClean="0">
                <a:latin typeface="Times New Roman" pitchFamily="18" charset="0"/>
                <a:cs typeface="Times New Roman" pitchFamily="18" charset="0"/>
              </a:rPr>
              <a:t>try </a:t>
            </a:r>
            <a:r>
              <a:rPr lang="en-US" dirty="0">
                <a:latin typeface="Times New Roman" pitchFamily="18" charset="0"/>
                <a:cs typeface="Times New Roman" pitchFamily="18" charset="0"/>
              </a:rPr>
              <a:t>{         </a:t>
            </a:r>
          </a:p>
          <a:p>
            <a:pPr lvl="4"/>
            <a:r>
              <a:rPr lang="en-US" dirty="0">
                <a:latin typeface="Times New Roman" pitchFamily="18" charset="0"/>
                <a:cs typeface="Times New Roman" pitchFamily="18" charset="0"/>
              </a:rPr>
              <a:t>    // Code that might throw an exception</a:t>
            </a:r>
          </a:p>
          <a:p>
            <a:pPr lvl="4"/>
            <a:r>
              <a:rPr lang="en-US" dirty="0">
                <a:latin typeface="Times New Roman" pitchFamily="18" charset="0"/>
                <a:cs typeface="Times New Roman" pitchFamily="18" charset="0"/>
              </a:rPr>
              <a:t>} </a:t>
            </a:r>
          </a:p>
          <a:p>
            <a:pPr lvl="4"/>
            <a:r>
              <a:rPr lang="en-US" dirty="0">
                <a:latin typeface="Times New Roman" pitchFamily="18" charset="0"/>
                <a:cs typeface="Times New Roman" pitchFamily="18" charset="0"/>
              </a:rPr>
              <a:t>catch (type1 e) {   </a:t>
            </a:r>
          </a:p>
          <a:p>
            <a:pPr lvl="4"/>
            <a:r>
              <a:rPr lang="en-US" dirty="0">
                <a:latin typeface="Times New Roman" pitchFamily="18" charset="0"/>
                <a:cs typeface="Times New Roman" pitchFamily="18" charset="0"/>
              </a:rPr>
              <a:t>    // executed when exception is of type1</a:t>
            </a:r>
          </a:p>
          <a:p>
            <a:pPr lvl="4"/>
            <a:r>
              <a:rPr lang="en-US" dirty="0">
                <a:latin typeface="Times New Roman" pitchFamily="18" charset="0"/>
                <a:cs typeface="Times New Roman" pitchFamily="18" charset="0"/>
              </a:rPr>
              <a:t>}</a:t>
            </a:r>
          </a:p>
          <a:p>
            <a:pPr lvl="4"/>
            <a:r>
              <a:rPr lang="en-US" dirty="0">
                <a:latin typeface="Times New Roman" pitchFamily="18" charset="0"/>
                <a:cs typeface="Times New Roman" pitchFamily="18" charset="0"/>
              </a:rPr>
              <a:t>catch (type2 e) {   </a:t>
            </a:r>
          </a:p>
          <a:p>
            <a:pPr lvl="4"/>
            <a:r>
              <a:rPr lang="en-US" dirty="0">
                <a:latin typeface="Times New Roman" pitchFamily="18" charset="0"/>
                <a:cs typeface="Times New Roman" pitchFamily="18" charset="0"/>
              </a:rPr>
              <a:t>    // executed when exception is of type2</a:t>
            </a:r>
          </a:p>
          <a:p>
            <a:pPr lvl="4"/>
            <a:r>
              <a:rPr lang="en-US" dirty="0">
                <a:latin typeface="Times New Roman" pitchFamily="18" charset="0"/>
                <a:cs typeface="Times New Roman" pitchFamily="18" charset="0"/>
              </a:rPr>
              <a:t>}</a:t>
            </a:r>
          </a:p>
          <a:p>
            <a:pPr lvl="4"/>
            <a:r>
              <a:rPr lang="en-US" dirty="0">
                <a:latin typeface="Times New Roman" pitchFamily="18" charset="0"/>
                <a:cs typeface="Times New Roman" pitchFamily="18" charset="0"/>
              </a:rPr>
              <a:t>catch (...) {</a:t>
            </a:r>
          </a:p>
          <a:p>
            <a:pPr lvl="4"/>
            <a:r>
              <a:rPr lang="en-US" dirty="0">
                <a:latin typeface="Times New Roman" pitchFamily="18" charset="0"/>
                <a:cs typeface="Times New Roman" pitchFamily="18" charset="0"/>
              </a:rPr>
              <a:t>    // executed when no matching catch is found</a:t>
            </a:r>
          </a:p>
          <a:p>
            <a:pPr lvl="4"/>
            <a:r>
              <a:rPr lang="en-US" dirty="0" smtClean="0">
                <a:latin typeface="Times New Roman" pitchFamily="18" charset="0"/>
                <a:cs typeface="Times New Roman" pitchFamily="18" charset="0"/>
              </a:rPr>
              <a:t>}</a:t>
            </a:r>
          </a:p>
          <a:p>
            <a:pPr lvl="4"/>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 the above code, the last statement catch(...) creates a catch-all block which is executed when none of the above catch statements are matched. For example,</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15782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17693"/>
            <a:ext cx="4572000" cy="6740307"/>
          </a:xfrm>
          <a:prstGeom prst="rect">
            <a:avLst/>
          </a:prstGeom>
        </p:spPr>
        <p:txBody>
          <a:bodyPr>
            <a:spAutoFit/>
          </a:bodyPr>
          <a:lstStyle/>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Code that might throw an exception</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choice;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"Enter 1 for invalid argument, "</a:t>
            </a:r>
          </a:p>
          <a:p>
            <a:r>
              <a:rPr lang="en-US" dirty="0">
                <a:latin typeface="Times New Roman" pitchFamily="18" charset="0"/>
                <a:cs typeface="Times New Roman" pitchFamily="18" charset="0"/>
              </a:rPr>
              <a:t>            &lt;&lt; "2 for out of range: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 &gt;&gt; choice;</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if (choice == 1) {</a:t>
            </a:r>
          </a:p>
          <a:p>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invalid_argument</a:t>
            </a:r>
            <a:r>
              <a:rPr lang="en-US" dirty="0">
                <a:latin typeface="Times New Roman" pitchFamily="18" charset="0"/>
                <a:cs typeface="Times New Roman" pitchFamily="18" charset="0"/>
              </a:rPr>
              <a:t>("Invalid argument");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else if (choice == 2) {</a:t>
            </a:r>
          </a:p>
          <a:p>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out_of_range</a:t>
            </a:r>
            <a:r>
              <a:rPr lang="en-US" dirty="0">
                <a:latin typeface="Times New Roman" pitchFamily="18" charset="0"/>
                <a:cs typeface="Times New Roman" pitchFamily="18" charset="0"/>
              </a:rPr>
              <a:t>("Out of range");</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else {</a:t>
            </a:r>
          </a:p>
          <a:p>
            <a:r>
              <a:rPr lang="en-US" dirty="0">
                <a:latin typeface="Times New Roman" pitchFamily="18" charset="0"/>
                <a:cs typeface="Times New Roman" pitchFamily="18" charset="0"/>
              </a:rPr>
              <a:t>            throw "Unknown error";</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p:txBody>
      </p:sp>
      <p:sp>
        <p:nvSpPr>
          <p:cNvPr id="3" name="Rectangle 2"/>
          <p:cNvSpPr/>
          <p:nvPr/>
        </p:nvSpPr>
        <p:spPr>
          <a:xfrm>
            <a:off x="4419600" y="117693"/>
            <a:ext cx="4572000" cy="6186309"/>
          </a:xfrm>
          <a:prstGeom prst="rect">
            <a:avLst/>
          </a:prstGeom>
        </p:spPr>
        <p:txBody>
          <a:bodyPr>
            <a:spAutoFit/>
          </a:bodyPr>
          <a:lstStyle/>
          <a:p>
            <a:r>
              <a:rPr lang="en-US" dirty="0">
                <a:latin typeface="Times New Roman" pitchFamily="18" charset="0"/>
                <a:cs typeface="Times New Roman" pitchFamily="18" charset="0"/>
              </a:rPr>
              <a:t>// executed when exception is of type </a:t>
            </a:r>
            <a:r>
              <a:rPr lang="en-US" dirty="0" err="1">
                <a:latin typeface="Times New Roman" pitchFamily="18" charset="0"/>
                <a:cs typeface="Times New Roman" pitchFamily="18" charset="0"/>
              </a:rPr>
              <a:t>invalid_argument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invalid_argument</a:t>
            </a:r>
            <a:r>
              <a:rPr lang="en-US" dirty="0">
                <a:latin typeface="Times New Roman" pitchFamily="18" charset="0"/>
                <a:cs typeface="Times New Roman" pitchFamily="18" charset="0"/>
              </a:rPr>
              <a:t> 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exception: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executed when exception is of type </a:t>
            </a:r>
            <a:r>
              <a:rPr lang="en-US" dirty="0" err="1">
                <a:latin typeface="Times New Roman" pitchFamily="18" charset="0"/>
                <a:cs typeface="Times New Roman" pitchFamily="18" charset="0"/>
              </a:rPr>
              <a:t>out_of_range</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out_of_range</a:t>
            </a:r>
            <a:r>
              <a:rPr lang="en-US" dirty="0">
                <a:latin typeface="Times New Roman" pitchFamily="18" charset="0"/>
                <a:cs typeface="Times New Roman" pitchFamily="18" charset="0"/>
              </a:rPr>
              <a:t> 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exception: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executed when no matching catch is found</a:t>
            </a:r>
          </a:p>
          <a:p>
            <a:r>
              <a:rPr lang="en-US" dirty="0">
                <a:latin typeface="Times New Roman" pitchFamily="18" charset="0"/>
                <a:cs typeface="Times New Roman" pitchFamily="18" charset="0"/>
              </a:rPr>
              <a:t>    catch (...)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an unknown exception."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635826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3139321"/>
          </a:xfrm>
          <a:prstGeom prst="rect">
            <a:avLst/>
          </a:prstGeom>
        </p:spPr>
        <p:txBody>
          <a:bodyPr wrap="square">
            <a:spAutoFit/>
          </a:bodyPr>
          <a:lstStyle/>
          <a:p>
            <a:r>
              <a:rPr lang="en-US" dirty="0">
                <a:latin typeface="Times New Roman" pitchFamily="18" charset="0"/>
                <a:cs typeface="Times New Roman" pitchFamily="18" charset="0"/>
              </a:rPr>
              <a:t>Output 1</a:t>
            </a:r>
          </a:p>
          <a:p>
            <a:r>
              <a:rPr lang="en-US" dirty="0" smtClean="0">
                <a:latin typeface="Times New Roman" pitchFamily="18" charset="0"/>
                <a:cs typeface="Times New Roman" pitchFamily="18" charset="0"/>
              </a:rPr>
              <a:t>Enter </a:t>
            </a:r>
            <a:r>
              <a:rPr lang="en-US" dirty="0">
                <a:latin typeface="Times New Roman" pitchFamily="18" charset="0"/>
                <a:cs typeface="Times New Roman" pitchFamily="18" charset="0"/>
              </a:rPr>
              <a:t>1 for invalid argument, 2 for out of range: 2</a:t>
            </a:r>
          </a:p>
          <a:p>
            <a:r>
              <a:rPr lang="en-US" dirty="0">
                <a:latin typeface="Times New Roman" pitchFamily="18" charset="0"/>
                <a:cs typeface="Times New Roman" pitchFamily="18" charset="0"/>
              </a:rPr>
              <a:t>Caught exception: Out of range</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Output </a:t>
            </a:r>
            <a:r>
              <a:rPr lang="en-US" dirty="0">
                <a:latin typeface="Times New Roman" pitchFamily="18" charset="0"/>
                <a:cs typeface="Times New Roman" pitchFamily="18" charset="0"/>
              </a:rPr>
              <a:t>2</a:t>
            </a:r>
          </a:p>
          <a:p>
            <a:r>
              <a:rPr lang="en-US" dirty="0" smtClean="0">
                <a:latin typeface="Times New Roman" pitchFamily="18" charset="0"/>
                <a:cs typeface="Times New Roman" pitchFamily="18" charset="0"/>
              </a:rPr>
              <a:t>Enter </a:t>
            </a:r>
            <a:r>
              <a:rPr lang="en-US" dirty="0">
                <a:latin typeface="Times New Roman" pitchFamily="18" charset="0"/>
                <a:cs typeface="Times New Roman" pitchFamily="18" charset="0"/>
              </a:rPr>
              <a:t>1 for invalid argument, 2 for out of range: 1</a:t>
            </a:r>
          </a:p>
          <a:p>
            <a:r>
              <a:rPr lang="en-US" dirty="0">
                <a:latin typeface="Times New Roman" pitchFamily="18" charset="0"/>
                <a:cs typeface="Times New Roman" pitchFamily="18" charset="0"/>
              </a:rPr>
              <a:t>Caught exception: Invalid </a:t>
            </a:r>
            <a:r>
              <a:rPr lang="en-US" dirty="0" smtClean="0">
                <a:latin typeface="Times New Roman" pitchFamily="18" charset="0"/>
                <a:cs typeface="Times New Roman" pitchFamily="18" charset="0"/>
              </a:rPr>
              <a:t>argument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Output 3</a:t>
            </a:r>
          </a:p>
          <a:p>
            <a:r>
              <a:rPr lang="en-US" dirty="0" smtClean="0">
                <a:latin typeface="Times New Roman" pitchFamily="18" charset="0"/>
                <a:cs typeface="Times New Roman" pitchFamily="18" charset="0"/>
              </a:rPr>
              <a:t>Enter </a:t>
            </a:r>
            <a:r>
              <a:rPr lang="en-US" dirty="0">
                <a:latin typeface="Times New Roman" pitchFamily="18" charset="0"/>
                <a:cs typeface="Times New Roman" pitchFamily="18" charset="0"/>
              </a:rPr>
              <a:t>1 for invalid argument, 2 for out of range: 10</a:t>
            </a:r>
          </a:p>
          <a:p>
            <a:r>
              <a:rPr lang="en-US" dirty="0">
                <a:latin typeface="Times New Roman" pitchFamily="18" charset="0"/>
                <a:cs typeface="Times New Roman" pitchFamily="18" charset="0"/>
              </a:rPr>
              <a:t>Caught an unknown exception.</a:t>
            </a:r>
          </a:p>
        </p:txBody>
      </p:sp>
    </p:spTree>
    <p:extLst>
      <p:ext uri="{BB962C8B-B14F-4D97-AF65-F5344CB8AC3E}">
        <p14:creationId xmlns:p14="http://schemas.microsoft.com/office/powerpoint/2010/main" val="1138300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182" y="45544"/>
            <a:ext cx="8839200" cy="6740307"/>
          </a:xfrm>
          <a:prstGeom prst="rect">
            <a:avLst/>
          </a:prstGeom>
        </p:spPr>
        <p:txBody>
          <a:bodyPr wrap="square">
            <a:spAutoFit/>
          </a:bodyPr>
          <a:lstStyle/>
          <a:p>
            <a:r>
              <a:rPr lang="en-US" b="1" dirty="0">
                <a:latin typeface="Times New Roman" pitchFamily="18" charset="0"/>
                <a:cs typeface="Times New Roman" pitchFamily="18" charset="0"/>
              </a:rPr>
              <a:t>Catch by Value or </a:t>
            </a:r>
            <a:r>
              <a:rPr lang="en-US" b="1" dirty="0" smtClean="0">
                <a:latin typeface="Times New Roman" pitchFamily="18" charset="0"/>
                <a:cs typeface="Times New Roman" pitchFamily="18" charset="0"/>
              </a:rPr>
              <a:t>Reference :</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Just like function arguments, the catch block can catch exceptions either by value or by reference. Both of the methods have their own advantage.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Catch by Value</a:t>
            </a:r>
          </a:p>
          <a:p>
            <a:r>
              <a:rPr lang="en-US" dirty="0" smtClean="0">
                <a:latin typeface="Times New Roman" pitchFamily="18" charset="0"/>
                <a:cs typeface="Times New Roman" pitchFamily="18" charset="0"/>
              </a:rPr>
              <a:t>Catching </a:t>
            </a:r>
            <a:r>
              <a:rPr lang="en-US" dirty="0">
                <a:latin typeface="Times New Roman" pitchFamily="18" charset="0"/>
                <a:cs typeface="Times New Roman" pitchFamily="18" charset="0"/>
              </a:rPr>
              <a:t>exceptions by value creates a new copy of the thrown object in the catch block. Generally, the exceptions objects are not very large so there is not much overhead of creating copies.</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main() {</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("This is runtime exception");</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Catching by value</a:t>
            </a: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 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Caught: This is runtime exception</a:t>
            </a:r>
          </a:p>
        </p:txBody>
      </p:sp>
    </p:spTree>
    <p:extLst>
      <p:ext uri="{BB962C8B-B14F-4D97-AF65-F5344CB8AC3E}">
        <p14:creationId xmlns:p14="http://schemas.microsoft.com/office/powerpoint/2010/main" val="38257177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9215"/>
            <a:ext cx="8839200" cy="6463308"/>
          </a:xfrm>
          <a:prstGeom prst="rect">
            <a:avLst/>
          </a:prstGeom>
        </p:spPr>
        <p:txBody>
          <a:bodyPr wrap="square">
            <a:spAutoFit/>
          </a:bodyPr>
          <a:lstStyle/>
          <a:p>
            <a:r>
              <a:rPr lang="en-US" b="1" dirty="0">
                <a:latin typeface="Times New Roman" pitchFamily="18" charset="0"/>
                <a:cs typeface="Times New Roman" pitchFamily="18" charset="0"/>
              </a:rPr>
              <a:t>Catch by </a:t>
            </a:r>
            <a:r>
              <a:rPr lang="en-US" b="1" dirty="0" smtClean="0">
                <a:latin typeface="Times New Roman" pitchFamily="18" charset="0"/>
                <a:cs typeface="Times New Roman" pitchFamily="18" charset="0"/>
              </a:rPr>
              <a:t>Reference :</a:t>
            </a:r>
            <a:endParaRPr lang="en-US" b="1" dirty="0">
              <a:latin typeface="Times New Roman" pitchFamily="18" charset="0"/>
              <a:cs typeface="Times New Roman" pitchFamily="18" charset="0"/>
            </a:endParaRPr>
          </a:p>
          <a:p>
            <a:r>
              <a:rPr lang="en-US" dirty="0" smtClean="0">
                <a:latin typeface="Times New Roman" pitchFamily="18" charset="0"/>
                <a:cs typeface="Times New Roman" pitchFamily="18" charset="0"/>
              </a:rPr>
              <a:t>Catch </a:t>
            </a:r>
            <a:r>
              <a:rPr lang="en-US" dirty="0">
                <a:latin typeface="Times New Roman" pitchFamily="18" charset="0"/>
                <a:cs typeface="Times New Roman" pitchFamily="18" charset="0"/>
              </a:rPr>
              <a:t>by reference method just pass the reference to the exception thrown instead of creating a copy. Although it reduces the copy overhead, it is not the primary advantage of this method. The main advantage of this method is in catching polymorphic exception types. For example,</a:t>
            </a:r>
          </a:p>
          <a:p>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("This is runtime exception");</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 Catching by value</a:t>
            </a:r>
          </a:p>
          <a:p>
            <a:r>
              <a:rPr lang="en-US" dirty="0">
                <a:latin typeface="Times New Roman" pitchFamily="18" charset="0"/>
                <a:cs typeface="Times New Roman" pitchFamily="18" charset="0"/>
              </a:rPr>
              <a:t>    catch (exception&amp; e) </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"Caught: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Output</a:t>
            </a:r>
          </a:p>
          <a:p>
            <a:r>
              <a:rPr lang="en-US" dirty="0">
                <a:latin typeface="Times New Roman" pitchFamily="18" charset="0"/>
                <a:cs typeface="Times New Roman" pitchFamily="18" charset="0"/>
              </a:rPr>
              <a:t>Caught: This is runtime exception</a:t>
            </a:r>
          </a:p>
        </p:txBody>
      </p:sp>
      <p:sp>
        <p:nvSpPr>
          <p:cNvPr id="3" name="Rectangle 2"/>
          <p:cNvSpPr/>
          <p:nvPr/>
        </p:nvSpPr>
        <p:spPr>
          <a:xfrm>
            <a:off x="4419600" y="3886200"/>
            <a:ext cx="4572000" cy="1477328"/>
          </a:xfrm>
          <a:prstGeom prst="rect">
            <a:avLst/>
          </a:prstGeom>
        </p:spPr>
        <p:txBody>
          <a:bodyPr>
            <a:spAutoFit/>
          </a:bodyPr>
          <a:lstStyle/>
          <a:p>
            <a:r>
              <a:rPr lang="en-US" i="1" dirty="0">
                <a:latin typeface="Times New Roman" pitchFamily="18" charset="0"/>
                <a:cs typeface="Times New Roman" pitchFamily="18" charset="0"/>
              </a:rPr>
              <a:t>In the </a:t>
            </a:r>
            <a:r>
              <a:rPr lang="en-US" i="1" dirty="0" smtClean="0">
                <a:latin typeface="Times New Roman" pitchFamily="18" charset="0"/>
                <a:cs typeface="Times New Roman" pitchFamily="18" charset="0"/>
              </a:rPr>
              <a:t>example</a:t>
            </a:r>
            <a:r>
              <a:rPr lang="en-US" i="1" dirty="0">
                <a:latin typeface="Times New Roman" pitchFamily="18" charset="0"/>
                <a:cs typeface="Times New Roman" pitchFamily="18" charset="0"/>
              </a:rPr>
              <a:t>, we were able to catch the </a:t>
            </a:r>
            <a:r>
              <a:rPr lang="en-US" i="1" dirty="0" err="1">
                <a:latin typeface="Times New Roman" pitchFamily="18" charset="0"/>
                <a:cs typeface="Times New Roman" pitchFamily="18" charset="0"/>
              </a:rPr>
              <a:t>runtime_error</a:t>
            </a:r>
            <a:r>
              <a:rPr lang="en-US" i="1" dirty="0">
                <a:latin typeface="Times New Roman" pitchFamily="18" charset="0"/>
                <a:cs typeface="Times New Roman" pitchFamily="18" charset="0"/>
              </a:rPr>
              <a:t> exception using the reference to exception class. This is very helpful in handling exceptions derived from other exceptions like in standard exception hierarchy.</a:t>
            </a:r>
          </a:p>
        </p:txBody>
      </p:sp>
    </p:spTree>
    <p:extLst>
      <p:ext uri="{BB962C8B-B14F-4D97-AF65-F5344CB8AC3E}">
        <p14:creationId xmlns:p14="http://schemas.microsoft.com/office/powerpoint/2010/main" val="1220717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9327" y="152400"/>
            <a:ext cx="8839200" cy="6463308"/>
          </a:xfrm>
          <a:prstGeom prst="rect">
            <a:avLst/>
          </a:prstGeom>
        </p:spPr>
        <p:txBody>
          <a:bodyPr wrap="square">
            <a:spAutoFit/>
          </a:bodyPr>
          <a:lstStyle/>
          <a:p>
            <a:r>
              <a:rPr lang="en-US" b="1" dirty="0" err="1">
                <a:latin typeface="Times New Roman" pitchFamily="18" charset="0"/>
                <a:cs typeface="Times New Roman" pitchFamily="18" charset="0"/>
              </a:rPr>
              <a:t>Rethrowing</a:t>
            </a:r>
            <a:r>
              <a:rPr lang="en-US" b="1" dirty="0">
                <a:latin typeface="Times New Roman" pitchFamily="18" charset="0"/>
                <a:cs typeface="Times New Roman" pitchFamily="18" charset="0"/>
              </a:rPr>
              <a:t> an Exception</a:t>
            </a:r>
          </a:p>
          <a:p>
            <a:r>
              <a:rPr lang="en-US" dirty="0" err="1">
                <a:latin typeface="Times New Roman" pitchFamily="18" charset="0"/>
                <a:cs typeface="Times New Roman" pitchFamily="18" charset="0"/>
              </a:rPr>
              <a:t>Rethrowing</a:t>
            </a:r>
            <a:r>
              <a:rPr lang="en-US" dirty="0">
                <a:latin typeface="Times New Roman" pitchFamily="18" charset="0"/>
                <a:cs typeface="Times New Roman" pitchFamily="18" charset="0"/>
              </a:rPr>
              <a:t> an exception in C++ involves catching an exception within a try block and instead of dealing with it locally throwing it again to be caught by an outer catch block. By doing this. we preserve the type and details of the exception ensuring that it can be handled at the appropriate level within our program.</a:t>
            </a: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approach is generally used when handling exception at multiple levels.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Exception Specification</a:t>
            </a:r>
          </a:p>
          <a:p>
            <a:r>
              <a:rPr lang="en-US" dirty="0">
                <a:latin typeface="Times New Roman" pitchFamily="18" charset="0"/>
                <a:cs typeface="Times New Roman" pitchFamily="18" charset="0"/>
              </a:rPr>
              <a:t>C++ provides exception specifications to specify that the given function may or may not throw an exception. In modern C++, there are two types of exception specifications:</a:t>
            </a:r>
          </a:p>
          <a:p>
            <a:endParaRPr lang="en-US" dirty="0">
              <a:latin typeface="Times New Roman" pitchFamily="18" charset="0"/>
              <a:cs typeface="Times New Roman" pitchFamily="18" charset="0"/>
            </a:endParaRPr>
          </a:p>
          <a:p>
            <a:pPr marL="342900" indent="-342900">
              <a:buFont typeface="+mj-lt"/>
              <a:buAutoNum type="arabicPeriod"/>
            </a:pPr>
            <a:r>
              <a:rPr lang="en-US" dirty="0" err="1">
                <a:latin typeface="Times New Roman" pitchFamily="18" charset="0"/>
                <a:cs typeface="Times New Roman" pitchFamily="18" charset="0"/>
              </a:rPr>
              <a:t>noexcept</a:t>
            </a:r>
            <a:r>
              <a:rPr lang="en-US" dirty="0">
                <a:latin typeface="Times New Roman" pitchFamily="18" charset="0"/>
                <a:cs typeface="Times New Roman" pitchFamily="18" charset="0"/>
              </a:rPr>
              <a:t>: Tells that the given function is guaranteed to not throw an exception.</a:t>
            </a:r>
          </a:p>
          <a:p>
            <a:pPr marL="342900" indent="-342900">
              <a:buFont typeface="+mj-lt"/>
              <a:buAutoNum type="arabicPeriod"/>
            </a:pPr>
            <a:r>
              <a:rPr lang="en-US" dirty="0" err="1">
                <a:latin typeface="Times New Roman" pitchFamily="18" charset="0"/>
                <a:cs typeface="Times New Roman" pitchFamily="18" charset="0"/>
              </a:rPr>
              <a:t>noexcept</a:t>
            </a:r>
            <a:r>
              <a:rPr lang="en-US" dirty="0">
                <a:latin typeface="Times New Roman" pitchFamily="18" charset="0"/>
                <a:cs typeface="Times New Roman" pitchFamily="18" charset="0"/>
              </a:rPr>
              <a:t>(false): Tells that the given function may throw an exception. It is default </a:t>
            </a:r>
            <a:r>
              <a:rPr lang="en-US" dirty="0" err="1">
                <a:latin typeface="Times New Roman" pitchFamily="18" charset="0"/>
                <a:cs typeface="Times New Roman" pitchFamily="18" charset="0"/>
              </a:rPr>
              <a:t>behaviour</a:t>
            </a:r>
            <a:r>
              <a:rPr lang="en-US" dirty="0">
                <a:latin typeface="Times New Roman" pitchFamily="18" charset="0"/>
                <a:cs typeface="Times New Roman" pitchFamily="18" charset="0"/>
              </a:rPr>
              <a:t> in case no exception specification is used.</a:t>
            </a:r>
          </a:p>
          <a:p>
            <a:r>
              <a:rPr lang="en-US" dirty="0">
                <a:latin typeface="Times New Roman" pitchFamily="18" charset="0"/>
                <a:cs typeface="Times New Roman" pitchFamily="18" charset="0"/>
              </a:rPr>
              <a:t>These exception specifications are used in the function declaration as shown:</a:t>
            </a:r>
          </a:p>
          <a:p>
            <a:r>
              <a:rPr lang="en-US" dirty="0" smtClean="0">
                <a:latin typeface="Times New Roman" pitchFamily="18" charset="0"/>
                <a:cs typeface="Times New Roman" pitchFamily="18" charset="0"/>
              </a:rPr>
              <a:t>void </a:t>
            </a:r>
            <a:r>
              <a:rPr lang="en-US" dirty="0">
                <a:latin typeface="Times New Roman" pitchFamily="18" charset="0"/>
                <a:cs typeface="Times New Roman" pitchFamily="18" charset="0"/>
              </a:rPr>
              <a:t>func1(</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noexcept</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void func2(</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noexcept</a:t>
            </a:r>
            <a:r>
              <a:rPr lang="en-US" dirty="0">
                <a:latin typeface="Times New Roman" pitchFamily="18" charset="0"/>
                <a:cs typeface="Times New Roman" pitchFamily="18" charset="0"/>
              </a:rPr>
              <a:t>(false)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There were other exception specifications, but they have been deprecated since C++ 11.</a:t>
            </a:r>
          </a:p>
        </p:txBody>
      </p:sp>
    </p:spTree>
    <p:extLst>
      <p:ext uri="{BB962C8B-B14F-4D97-AF65-F5344CB8AC3E}">
        <p14:creationId xmlns:p14="http://schemas.microsoft.com/office/powerpoint/2010/main" val="2136116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2793"/>
            <a:ext cx="8839200" cy="6186309"/>
          </a:xfrm>
          <a:prstGeom prst="rect">
            <a:avLst/>
          </a:prstGeom>
        </p:spPr>
        <p:txBody>
          <a:bodyPr wrap="square">
            <a:spAutoFit/>
          </a:bodyPr>
          <a:lstStyle/>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void </a:t>
            </a:r>
            <a:r>
              <a:rPr lang="en-US" dirty="0" err="1">
                <a:latin typeface="Times New Roman" pitchFamily="18" charset="0"/>
                <a:cs typeface="Times New Roman" pitchFamily="18" charset="0"/>
              </a:rPr>
              <a:t>innerFunction</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throw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("Something went wrong in </a:t>
            </a:r>
            <a:r>
              <a:rPr lang="en-US" dirty="0" err="1">
                <a:latin typeface="Times New Roman" pitchFamily="18" charset="0"/>
                <a:cs typeface="Times New Roman" pitchFamily="18" charset="0"/>
              </a:rPr>
              <a:t>innerFunction</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 &amp;e)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"Inner catch: Partially handling exception..."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throw;  // </a:t>
            </a:r>
            <a:r>
              <a:rPr lang="en-US" dirty="0" err="1">
                <a:latin typeface="Times New Roman" pitchFamily="18" charset="0"/>
                <a:cs typeface="Times New Roman" pitchFamily="18" charset="0"/>
              </a:rPr>
              <a:t>Rethrow</a:t>
            </a:r>
            <a:r>
              <a:rPr lang="en-US" dirty="0">
                <a:latin typeface="Times New Roman" pitchFamily="18" charset="0"/>
                <a:cs typeface="Times New Roman" pitchFamily="18" charset="0"/>
              </a:rPr>
              <a:t> the same exception to outer catch</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try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innerFunction</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catch (</a:t>
            </a:r>
            <a:r>
              <a:rPr lang="en-US" dirty="0" err="1">
                <a:latin typeface="Times New Roman" pitchFamily="18" charset="0"/>
                <a:cs typeface="Times New Roman" pitchFamily="18" charset="0"/>
              </a:rPr>
              <a:t>runtime_error</a:t>
            </a:r>
            <a:r>
              <a:rPr lang="en-US" dirty="0">
                <a:latin typeface="Times New Roman" pitchFamily="18" charset="0"/>
                <a:cs typeface="Times New Roman" pitchFamily="18" charset="0"/>
              </a:rPr>
              <a:t> &amp;e)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"Outer catch: Handling exception - " &lt;&lt; </a:t>
            </a:r>
            <a:r>
              <a:rPr lang="en-US" dirty="0" err="1">
                <a:latin typeface="Times New Roman" pitchFamily="18" charset="0"/>
                <a:cs typeface="Times New Roman" pitchFamily="18" charset="0"/>
              </a:rPr>
              <a:t>e.what</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return 0</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7050" y="5491163"/>
            <a:ext cx="5924550" cy="767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8841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545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1506"/>
            <a:ext cx="8763000" cy="5909310"/>
          </a:xfrm>
          <a:prstGeom prst="rect">
            <a:avLst/>
          </a:prstGeom>
        </p:spPr>
        <p:txBody>
          <a:bodyPr wrap="square">
            <a:spAutoFit/>
          </a:bodyPr>
          <a:lstStyle/>
          <a:p>
            <a:r>
              <a:rPr lang="en-US" b="1" dirty="0">
                <a:latin typeface="Times New Roman" pitchFamily="18" charset="0"/>
                <a:cs typeface="Times New Roman" pitchFamily="18" charset="0"/>
              </a:rPr>
              <a:t>Unformatted I/O Operations </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C++, I/O operations are of two types:</a:t>
            </a:r>
          </a:p>
          <a:p>
            <a:pPr marL="342900" indent="-342900">
              <a:buFont typeface="+mj-lt"/>
              <a:buAutoNum type="arabicPeriod"/>
            </a:pPr>
            <a:r>
              <a:rPr lang="en-US" dirty="0" smtClean="0">
                <a:latin typeface="Times New Roman" pitchFamily="18" charset="0"/>
                <a:cs typeface="Times New Roman" pitchFamily="18" charset="0"/>
              </a:rPr>
              <a:t>Formatted </a:t>
            </a:r>
            <a:r>
              <a:rPr lang="en-US" dirty="0">
                <a:latin typeface="Times New Roman" pitchFamily="18" charset="0"/>
                <a:cs typeface="Times New Roman" pitchFamily="18" charset="0"/>
              </a:rPr>
              <a:t>I/O → Data is presented in human-readable form (e.g.,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 &gt;&gt;).</a:t>
            </a:r>
          </a:p>
          <a:p>
            <a:pPr marL="342900" indent="-342900">
              <a:buFont typeface="+mj-lt"/>
              <a:buAutoNum type="arabicPeriod"/>
            </a:pPr>
            <a:r>
              <a:rPr lang="en-US" dirty="0" smtClean="0">
                <a:latin typeface="Times New Roman" pitchFamily="18" charset="0"/>
                <a:cs typeface="Times New Roman" pitchFamily="18" charset="0"/>
              </a:rPr>
              <a:t>Unformatted </a:t>
            </a:r>
            <a:r>
              <a:rPr lang="en-US" dirty="0">
                <a:latin typeface="Times New Roman" pitchFamily="18" charset="0"/>
                <a:cs typeface="Times New Roman" pitchFamily="18" charset="0"/>
              </a:rPr>
              <a:t>I/O → Data is read/written as raw characters without formatting.</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Unformatted </a:t>
            </a:r>
            <a:r>
              <a:rPr lang="en-US" dirty="0">
                <a:latin typeface="Times New Roman" pitchFamily="18" charset="0"/>
                <a:cs typeface="Times New Roman" pitchFamily="18" charset="0"/>
              </a:rPr>
              <a:t>I/O is faster but less user-friendly, because it deals directly with characters.</a:t>
            </a:r>
          </a:p>
          <a:p>
            <a:endParaRPr lang="en-US" dirty="0">
              <a:latin typeface="Times New Roman" pitchFamily="18" charset="0"/>
              <a:cs typeface="Times New Roman" pitchFamily="18" charset="0"/>
            </a:endParaRPr>
          </a:p>
          <a:p>
            <a:r>
              <a:rPr lang="en-US" b="1" dirty="0" smtClean="0">
                <a:latin typeface="Times New Roman" pitchFamily="18" charset="0"/>
                <a:cs typeface="Times New Roman" pitchFamily="18" charset="0"/>
              </a:rPr>
              <a:t>1.Types </a:t>
            </a:r>
            <a:r>
              <a:rPr lang="en-US" b="1" dirty="0">
                <a:latin typeface="Times New Roman" pitchFamily="18" charset="0"/>
                <a:cs typeface="Times New Roman" pitchFamily="18" charset="0"/>
              </a:rPr>
              <a:t>of Unformatted Input </a:t>
            </a:r>
            <a:r>
              <a:rPr lang="en-US" b="1" dirty="0" smtClean="0">
                <a:latin typeface="Times New Roman" pitchFamily="18" charset="0"/>
                <a:cs typeface="Times New Roman" pitchFamily="18" charset="0"/>
              </a:rPr>
              <a:t>Functions:</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Function	</a:t>
            </a:r>
            <a:r>
              <a:rPr lang="en-US" dirty="0" smtClean="0">
                <a:latin typeface="Times New Roman" pitchFamily="18" charset="0"/>
                <a:cs typeface="Times New Roman" pitchFamily="18" charset="0"/>
              </a:rPr>
              <a:t>	Description</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get()	</a:t>
            </a:r>
            <a:r>
              <a:rPr lang="en-US" dirty="0" smtClean="0">
                <a:latin typeface="Times New Roman" pitchFamily="18" charset="0"/>
                <a:cs typeface="Times New Roman" pitchFamily="18" charset="0"/>
              </a:rPr>
              <a:t>	Reads </a:t>
            </a:r>
            <a:r>
              <a:rPr lang="en-US" dirty="0">
                <a:latin typeface="Times New Roman" pitchFamily="18" charset="0"/>
                <a:cs typeface="Times New Roman" pitchFamily="18" charset="0"/>
              </a:rPr>
              <a:t>a single character (including whitespace).</a:t>
            </a:r>
          </a:p>
          <a:p>
            <a:r>
              <a:rPr lang="en-US" dirty="0" err="1">
                <a:latin typeface="Times New Roman" pitchFamily="18" charset="0"/>
                <a:cs typeface="Times New Roman" pitchFamily="18" charset="0"/>
              </a:rPr>
              <a:t>getline</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Reads </a:t>
            </a:r>
            <a:r>
              <a:rPr lang="en-US" dirty="0">
                <a:latin typeface="Times New Roman" pitchFamily="18" charset="0"/>
                <a:cs typeface="Times New Roman" pitchFamily="18" charset="0"/>
              </a:rPr>
              <a:t>a whole line of text until newline.</a:t>
            </a:r>
          </a:p>
          <a:p>
            <a:r>
              <a:rPr lang="en-US" dirty="0">
                <a:latin typeface="Times New Roman" pitchFamily="18" charset="0"/>
                <a:cs typeface="Times New Roman" pitchFamily="18" charset="0"/>
              </a:rPr>
              <a:t>read()	</a:t>
            </a:r>
            <a:r>
              <a:rPr lang="en-US" dirty="0" smtClean="0">
                <a:latin typeface="Times New Roman" pitchFamily="18" charset="0"/>
                <a:cs typeface="Times New Roman" pitchFamily="18" charset="0"/>
              </a:rPr>
              <a:t>	Reads </a:t>
            </a:r>
            <a:r>
              <a:rPr lang="en-US" dirty="0">
                <a:latin typeface="Times New Roman" pitchFamily="18" charset="0"/>
                <a:cs typeface="Times New Roman" pitchFamily="18" charset="0"/>
              </a:rPr>
              <a:t>a block of binary data (array of chars).</a:t>
            </a:r>
          </a:p>
          <a:p>
            <a:r>
              <a:rPr lang="en-US" dirty="0">
                <a:latin typeface="Times New Roman" pitchFamily="18" charset="0"/>
                <a:cs typeface="Times New Roman" pitchFamily="18" charset="0"/>
              </a:rPr>
              <a:t>ignore()	</a:t>
            </a:r>
            <a:r>
              <a:rPr lang="en-US" dirty="0" smtClean="0">
                <a:latin typeface="Times New Roman" pitchFamily="18" charset="0"/>
                <a:cs typeface="Times New Roman" pitchFamily="18" charset="0"/>
              </a:rPr>
              <a:t>	Skips/discards </a:t>
            </a:r>
            <a:r>
              <a:rPr lang="en-US" dirty="0">
                <a:latin typeface="Times New Roman" pitchFamily="18" charset="0"/>
                <a:cs typeface="Times New Roman" pitchFamily="18" charset="0"/>
              </a:rPr>
              <a:t>characters in input buffer.</a:t>
            </a:r>
          </a:p>
          <a:p>
            <a:r>
              <a:rPr lang="en-US" dirty="0">
                <a:latin typeface="Times New Roman" pitchFamily="18" charset="0"/>
                <a:cs typeface="Times New Roman" pitchFamily="18" charset="0"/>
              </a:rPr>
              <a:t>peek()	</a:t>
            </a:r>
            <a:r>
              <a:rPr lang="en-US" dirty="0" smtClean="0">
                <a:latin typeface="Times New Roman" pitchFamily="18" charset="0"/>
                <a:cs typeface="Times New Roman" pitchFamily="18" charset="0"/>
              </a:rPr>
              <a:t>	Returns </a:t>
            </a:r>
            <a:r>
              <a:rPr lang="en-US" dirty="0">
                <a:latin typeface="Times New Roman" pitchFamily="18" charset="0"/>
                <a:cs typeface="Times New Roman" pitchFamily="18" charset="0"/>
              </a:rPr>
              <a:t>next character in input but does not remove it.</a:t>
            </a:r>
          </a:p>
          <a:p>
            <a:r>
              <a:rPr lang="en-US" dirty="0" err="1">
                <a:latin typeface="Times New Roman" pitchFamily="18" charset="0"/>
                <a:cs typeface="Times New Roman" pitchFamily="18" charset="0"/>
              </a:rPr>
              <a:t>putback</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Puts </a:t>
            </a:r>
            <a:r>
              <a:rPr lang="en-US" dirty="0">
                <a:latin typeface="Times New Roman" pitchFamily="18" charset="0"/>
                <a:cs typeface="Times New Roman" pitchFamily="18" charset="0"/>
              </a:rPr>
              <a:t>a character back into the input stream.</a:t>
            </a:r>
          </a:p>
          <a:p>
            <a:r>
              <a:rPr lang="en-US" dirty="0" err="1">
                <a:latin typeface="Times New Roman" pitchFamily="18" charset="0"/>
                <a:cs typeface="Times New Roman" pitchFamily="18" charset="0"/>
              </a:rPr>
              <a:t>gcount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Returns </a:t>
            </a:r>
            <a:r>
              <a:rPr lang="en-US" dirty="0">
                <a:latin typeface="Times New Roman" pitchFamily="18" charset="0"/>
                <a:cs typeface="Times New Roman" pitchFamily="18" charset="0"/>
              </a:rPr>
              <a:t>number of characters read by last unformatted input</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b="1" dirty="0" smtClean="0">
                <a:latin typeface="Times New Roman" pitchFamily="18" charset="0"/>
                <a:cs typeface="Times New Roman" pitchFamily="18" charset="0"/>
              </a:rPr>
              <a:t>2.Types </a:t>
            </a:r>
            <a:r>
              <a:rPr lang="en-US" b="1" dirty="0">
                <a:latin typeface="Times New Roman" pitchFamily="18" charset="0"/>
                <a:cs typeface="Times New Roman" pitchFamily="18" charset="0"/>
              </a:rPr>
              <a:t>of Unformatted Output </a:t>
            </a:r>
            <a:r>
              <a:rPr lang="en-US" b="1" dirty="0" smtClean="0">
                <a:latin typeface="Times New Roman" pitchFamily="18" charset="0"/>
                <a:cs typeface="Times New Roman" pitchFamily="18" charset="0"/>
              </a:rPr>
              <a:t>Functions:</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Function	</a:t>
            </a:r>
            <a:r>
              <a:rPr lang="en-US" dirty="0" smtClean="0">
                <a:latin typeface="Times New Roman" pitchFamily="18" charset="0"/>
                <a:cs typeface="Times New Roman" pitchFamily="18" charset="0"/>
              </a:rPr>
              <a:t>	Description</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put()	</a:t>
            </a:r>
            <a:r>
              <a:rPr lang="en-US" dirty="0" smtClean="0">
                <a:latin typeface="Times New Roman" pitchFamily="18" charset="0"/>
                <a:cs typeface="Times New Roman" pitchFamily="18" charset="0"/>
              </a:rPr>
              <a:t>	Writes </a:t>
            </a:r>
            <a:r>
              <a:rPr lang="en-US" dirty="0">
                <a:latin typeface="Times New Roman" pitchFamily="18" charset="0"/>
                <a:cs typeface="Times New Roman" pitchFamily="18" charset="0"/>
              </a:rPr>
              <a:t>a single character.</a:t>
            </a:r>
          </a:p>
          <a:p>
            <a:r>
              <a:rPr lang="en-US" dirty="0">
                <a:latin typeface="Times New Roman" pitchFamily="18" charset="0"/>
                <a:cs typeface="Times New Roman" pitchFamily="18" charset="0"/>
              </a:rPr>
              <a:t>write()	</a:t>
            </a:r>
            <a:r>
              <a:rPr lang="en-US" dirty="0" smtClean="0">
                <a:latin typeface="Times New Roman" pitchFamily="18" charset="0"/>
                <a:cs typeface="Times New Roman" pitchFamily="18" charset="0"/>
              </a:rPr>
              <a:t>	Writes </a:t>
            </a:r>
            <a:r>
              <a:rPr lang="en-US" dirty="0">
                <a:latin typeface="Times New Roman" pitchFamily="18" charset="0"/>
                <a:cs typeface="Times New Roman" pitchFamily="18" charset="0"/>
              </a:rPr>
              <a:t>a block of binary data.</a:t>
            </a:r>
          </a:p>
        </p:txBody>
      </p:sp>
    </p:spTree>
    <p:extLst>
      <p:ext uri="{BB962C8B-B14F-4D97-AF65-F5344CB8AC3E}">
        <p14:creationId xmlns:p14="http://schemas.microsoft.com/office/powerpoint/2010/main" val="1670384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382000" cy="6247864"/>
          </a:xfrm>
          <a:prstGeom prst="rect">
            <a:avLst/>
          </a:prstGeom>
        </p:spPr>
        <p:txBody>
          <a:bodyPr wrap="square">
            <a:spAutoFit/>
          </a:bodyPr>
          <a:lstStyle/>
          <a:p>
            <a:r>
              <a:rPr lang="en-US" sz="2000" b="1" dirty="0">
                <a:latin typeface="Times New Roman" pitchFamily="18" charset="0"/>
                <a:cs typeface="Times New Roman" pitchFamily="18" charset="0"/>
              </a:rPr>
              <a:t>Example 1: Using get() and put</a:t>
            </a:r>
            <a:r>
              <a:rPr lang="en-US" sz="2000" b="1" dirty="0" smtClean="0">
                <a:latin typeface="Times New Roman" pitchFamily="18" charset="0"/>
                <a:cs typeface="Times New Roman" pitchFamily="18" charset="0"/>
              </a:rPr>
              <a:t>()</a:t>
            </a:r>
          </a:p>
          <a:p>
            <a:endParaRPr lang="en-US" sz="2000" b="1" dirty="0">
              <a:latin typeface="Times New Roman" pitchFamily="18" charset="0"/>
              <a:cs typeface="Times New Roman" pitchFamily="18" charset="0"/>
            </a:endParaRPr>
          </a:p>
          <a:p>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using namespace </a:t>
            </a:r>
            <a:r>
              <a:rPr lang="en-US" sz="2000" dirty="0" err="1">
                <a:latin typeface="Times New Roman" pitchFamily="18" charset="0"/>
                <a:cs typeface="Times New Roman" pitchFamily="18" charset="0"/>
              </a:rPr>
              <a:t>std</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r>
              <a:rPr lang="en-US" sz="2000" dirty="0">
                <a:latin typeface="Times New Roman" pitchFamily="18" charset="0"/>
                <a:cs typeface="Times New Roman" pitchFamily="18" charset="0"/>
              </a:rPr>
              <a:t>    char </a:t>
            </a:r>
            <a:r>
              <a:rPr lang="en-US" sz="2000" dirty="0" err="1">
                <a:latin typeface="Times New Roman" pitchFamily="18" charset="0"/>
                <a:cs typeface="Times New Roman" pitchFamily="18" charset="0"/>
              </a:rPr>
              <a:t>ch</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"Enter a character: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cin.get</a:t>
            </a:r>
            <a:r>
              <a:rPr lang="en-US" sz="2000" dirty="0">
                <a:latin typeface="Times New Roman" pitchFamily="18" charset="0"/>
                <a:cs typeface="Times New Roman" pitchFamily="18" charset="0"/>
              </a:rPr>
              <a:t>();     // read single character (including space/newline)</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"You entered: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cout.put</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ch</a:t>
            </a:r>
            <a:r>
              <a:rPr lang="en-US" sz="2000" dirty="0">
                <a:latin typeface="Times New Roman" pitchFamily="18" charset="0"/>
                <a:cs typeface="Times New Roman" pitchFamily="18" charset="0"/>
              </a:rPr>
              <a:t>);       // write single character</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return 0;</a:t>
            </a:r>
          </a:p>
          <a:p>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//output</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Enter a character: </a:t>
            </a:r>
            <a:r>
              <a:rPr lang="en-US" sz="2000" dirty="0" smtClean="0">
                <a:latin typeface="Times New Roman" pitchFamily="18" charset="0"/>
                <a:cs typeface="Times New Roman" pitchFamily="18" charset="0"/>
              </a:rPr>
              <a:t>a</a:t>
            </a:r>
          </a:p>
          <a:p>
            <a:r>
              <a:rPr lang="en-US" sz="2000" dirty="0" smtClean="0">
                <a:latin typeface="Times New Roman" pitchFamily="18" charset="0"/>
                <a:cs typeface="Times New Roman" pitchFamily="18" charset="0"/>
              </a:rPr>
              <a:t>You </a:t>
            </a:r>
            <a:r>
              <a:rPr lang="en-US" sz="2000" dirty="0">
                <a:latin typeface="Times New Roman" pitchFamily="18" charset="0"/>
                <a:cs typeface="Times New Roman" pitchFamily="18" charset="0"/>
              </a:rPr>
              <a:t>entered: a</a:t>
            </a:r>
          </a:p>
        </p:txBody>
      </p:sp>
    </p:spTree>
    <p:extLst>
      <p:ext uri="{BB962C8B-B14F-4D97-AF65-F5344CB8AC3E}">
        <p14:creationId xmlns:p14="http://schemas.microsoft.com/office/powerpoint/2010/main" val="583583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4801314"/>
          </a:xfrm>
          <a:prstGeom prst="rect">
            <a:avLst/>
          </a:prstGeom>
        </p:spPr>
        <p:txBody>
          <a:bodyPr wrap="square">
            <a:spAutoFit/>
          </a:bodyPr>
          <a:lstStyle/>
          <a:p>
            <a:r>
              <a:rPr lang="en-US" b="1" dirty="0">
                <a:latin typeface="Times New Roman" pitchFamily="18" charset="0"/>
                <a:cs typeface="Times New Roman" pitchFamily="18" charset="0"/>
              </a:rPr>
              <a:t>Example 2: Using </a:t>
            </a:r>
            <a:r>
              <a:rPr lang="en-US" b="1" dirty="0" err="1">
                <a:latin typeface="Times New Roman" pitchFamily="18" charset="0"/>
                <a:cs typeface="Times New Roman" pitchFamily="18" charset="0"/>
              </a:rPr>
              <a:t>getline</a:t>
            </a:r>
            <a:r>
              <a:rPr lang="en-US" b="1"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char name[50];</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"Enter your full name: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cin.getline</a:t>
            </a:r>
            <a:r>
              <a:rPr lang="en-US" dirty="0">
                <a:latin typeface="Times New Roman" pitchFamily="18" charset="0"/>
                <a:cs typeface="Times New Roman" pitchFamily="18" charset="0"/>
              </a:rPr>
              <a:t>(name, 50);  // read entire line including spaces</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"Hello, " &lt;&lt; name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Enter your full name: </a:t>
            </a:r>
            <a:r>
              <a:rPr lang="en-US" dirty="0" err="1">
                <a:latin typeface="Times New Roman" pitchFamily="18" charset="0"/>
                <a:cs typeface="Times New Roman" pitchFamily="18" charset="0"/>
              </a:rPr>
              <a:t>sonali</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gosavi</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Hello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sonali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gosavi</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078267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35846"/>
            <a:ext cx="8229600" cy="5909310"/>
          </a:xfrm>
          <a:prstGeom prst="rect">
            <a:avLst/>
          </a:prstGeom>
        </p:spPr>
        <p:txBody>
          <a:bodyPr wrap="square">
            <a:spAutoFit/>
          </a:bodyPr>
          <a:lstStyle/>
          <a:p>
            <a:r>
              <a:rPr lang="en-US" b="1" dirty="0">
                <a:latin typeface="Times New Roman" pitchFamily="18" charset="0"/>
                <a:cs typeface="Times New Roman" pitchFamily="18" charset="0"/>
              </a:rPr>
              <a:t>Example 3: Using ignore(), peek(), </a:t>
            </a:r>
            <a:r>
              <a:rPr lang="en-US" b="1" dirty="0" err="1">
                <a:latin typeface="Times New Roman" pitchFamily="18" charset="0"/>
                <a:cs typeface="Times New Roman" pitchFamily="18" charset="0"/>
              </a:rPr>
              <a:t>putback</a:t>
            </a:r>
            <a:r>
              <a:rPr lang="en-US" b="1" dirty="0" smtClean="0">
                <a:latin typeface="Times New Roman" pitchFamily="18" charset="0"/>
                <a:cs typeface="Times New Roman" pitchFamily="18" charset="0"/>
              </a:rPr>
              <a:t>()</a:t>
            </a:r>
          </a:p>
          <a:p>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char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"Enter a word: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cin.peek</a:t>
            </a:r>
            <a:r>
              <a:rPr lang="en-US" dirty="0">
                <a:latin typeface="Times New Roman" pitchFamily="18" charset="0"/>
                <a:cs typeface="Times New Roman" pitchFamily="18" charset="0"/>
              </a:rPr>
              <a:t>();       // look at next character</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"First character (peek): " &lt;&lt;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cin.get</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 read it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"Now after get(): " &lt;&lt;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cin.putback</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 put it back</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cin.get</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 read again</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"After </a:t>
            </a:r>
            <a:r>
              <a:rPr lang="en-US" dirty="0" err="1">
                <a:latin typeface="Times New Roman" pitchFamily="18" charset="0"/>
                <a:cs typeface="Times New Roman" pitchFamily="18" charset="0"/>
              </a:rPr>
              <a:t>putback</a:t>
            </a:r>
            <a:r>
              <a:rPr lang="en-US" dirty="0">
                <a:latin typeface="Times New Roman" pitchFamily="18" charset="0"/>
                <a:cs typeface="Times New Roman" pitchFamily="18" charset="0"/>
              </a:rPr>
              <a:t>(), read again: " &lt;&lt;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cin.ignore</a:t>
            </a:r>
            <a:r>
              <a:rPr lang="en-US" dirty="0">
                <a:latin typeface="Times New Roman" pitchFamily="18" charset="0"/>
                <a:cs typeface="Times New Roman" pitchFamily="18" charset="0"/>
              </a:rPr>
              <a:t>(10, '\n');  // ignore rest of line</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p:txBody>
      </p:sp>
      <p:sp>
        <p:nvSpPr>
          <p:cNvPr id="3" name="Rectangle 2"/>
          <p:cNvSpPr/>
          <p:nvPr/>
        </p:nvSpPr>
        <p:spPr>
          <a:xfrm>
            <a:off x="5029200" y="5410200"/>
            <a:ext cx="3872345" cy="1200329"/>
          </a:xfrm>
          <a:prstGeom prst="rect">
            <a:avLst/>
          </a:prstGeom>
        </p:spPr>
        <p:txBody>
          <a:bodyPr wrap="square">
            <a:spAutoFit/>
          </a:bodyPr>
          <a:lstStyle/>
          <a:p>
            <a:r>
              <a:rPr lang="en-US" dirty="0">
                <a:latin typeface="Times New Roman" pitchFamily="18" charset="0"/>
                <a:cs typeface="Times New Roman" pitchFamily="18" charset="0"/>
              </a:rPr>
              <a:t>Enter a word: </a:t>
            </a:r>
            <a:r>
              <a:rPr lang="en-US" dirty="0" err="1" smtClean="0">
                <a:latin typeface="Times New Roman" pitchFamily="18" charset="0"/>
                <a:cs typeface="Times New Roman" pitchFamily="18" charset="0"/>
              </a:rPr>
              <a:t>sonali</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First </a:t>
            </a:r>
            <a:r>
              <a:rPr lang="en-US" dirty="0">
                <a:latin typeface="Times New Roman" pitchFamily="18" charset="0"/>
                <a:cs typeface="Times New Roman" pitchFamily="18" charset="0"/>
              </a:rPr>
              <a:t>character (peek): </a:t>
            </a:r>
            <a:r>
              <a:rPr lang="en-US" dirty="0" smtClean="0">
                <a:latin typeface="Times New Roman" pitchFamily="18" charset="0"/>
                <a:cs typeface="Times New Roman" pitchFamily="18" charset="0"/>
              </a:rPr>
              <a:t>s</a:t>
            </a:r>
          </a:p>
          <a:p>
            <a:r>
              <a:rPr lang="en-US" dirty="0" smtClean="0">
                <a:latin typeface="Times New Roman" pitchFamily="18" charset="0"/>
                <a:cs typeface="Times New Roman" pitchFamily="18" charset="0"/>
              </a:rPr>
              <a:t>Now </a:t>
            </a:r>
            <a:r>
              <a:rPr lang="en-US" dirty="0">
                <a:latin typeface="Times New Roman" pitchFamily="18" charset="0"/>
                <a:cs typeface="Times New Roman" pitchFamily="18" charset="0"/>
              </a:rPr>
              <a:t>after get(): </a:t>
            </a:r>
            <a:r>
              <a:rPr lang="en-US" dirty="0" smtClean="0">
                <a:latin typeface="Times New Roman" pitchFamily="18" charset="0"/>
                <a:cs typeface="Times New Roman" pitchFamily="18" charset="0"/>
              </a:rPr>
              <a:t>s</a:t>
            </a:r>
          </a:p>
          <a:p>
            <a:r>
              <a:rPr lang="en-US" dirty="0" smtClean="0">
                <a:latin typeface="Times New Roman" pitchFamily="18" charset="0"/>
                <a:cs typeface="Times New Roman" pitchFamily="18" charset="0"/>
              </a:rPr>
              <a:t>After </a:t>
            </a:r>
            <a:r>
              <a:rPr lang="en-US" dirty="0" err="1">
                <a:latin typeface="Times New Roman" pitchFamily="18" charset="0"/>
                <a:cs typeface="Times New Roman" pitchFamily="18" charset="0"/>
              </a:rPr>
              <a:t>putback</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read </a:t>
            </a:r>
            <a:r>
              <a:rPr lang="en-US" dirty="0">
                <a:latin typeface="Times New Roman" pitchFamily="18" charset="0"/>
                <a:cs typeface="Times New Roman" pitchFamily="18" charset="0"/>
              </a:rPr>
              <a:t>again: s</a:t>
            </a:r>
          </a:p>
        </p:txBody>
      </p:sp>
    </p:spTree>
    <p:extLst>
      <p:ext uri="{BB962C8B-B14F-4D97-AF65-F5344CB8AC3E}">
        <p14:creationId xmlns:p14="http://schemas.microsoft.com/office/powerpoint/2010/main" val="55668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534400" cy="5016758"/>
          </a:xfrm>
          <a:prstGeom prst="rect">
            <a:avLst/>
          </a:prstGeom>
        </p:spPr>
        <p:txBody>
          <a:bodyPr wrap="square">
            <a:spAutoFit/>
          </a:bodyPr>
          <a:lstStyle/>
          <a:p>
            <a:r>
              <a:rPr lang="en-US" sz="2000" b="1" dirty="0">
                <a:latin typeface="Times New Roman" pitchFamily="18" charset="0"/>
                <a:cs typeface="Times New Roman" pitchFamily="18" charset="0"/>
              </a:rPr>
              <a:t>Example 4: Using read() and write</a:t>
            </a:r>
            <a:r>
              <a:rPr lang="en-US" sz="2000" b="1" dirty="0" smtClean="0">
                <a:latin typeface="Times New Roman" pitchFamily="18" charset="0"/>
                <a:cs typeface="Times New Roman" pitchFamily="18" charset="0"/>
              </a:rPr>
              <a:t>()</a:t>
            </a:r>
          </a:p>
          <a:p>
            <a:endParaRPr lang="en-US" sz="2000" b="1" dirty="0">
              <a:latin typeface="Times New Roman" pitchFamily="18" charset="0"/>
              <a:cs typeface="Times New Roman" pitchFamily="18" charset="0"/>
            </a:endParaRPr>
          </a:p>
          <a:p>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iostream</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using namespace </a:t>
            </a:r>
            <a:r>
              <a:rPr lang="en-US" sz="2000" dirty="0" err="1">
                <a:latin typeface="Times New Roman" pitchFamily="18" charset="0"/>
                <a:cs typeface="Times New Roman" pitchFamily="18" charset="0"/>
              </a:rPr>
              <a:t>std</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r>
              <a:rPr lang="en-US" sz="2000" dirty="0">
                <a:latin typeface="Times New Roman" pitchFamily="18" charset="0"/>
                <a:cs typeface="Times New Roman" pitchFamily="18" charset="0"/>
              </a:rPr>
              <a:t>    char </a:t>
            </a:r>
            <a:r>
              <a:rPr lang="en-US" sz="2000" dirty="0" err="1">
                <a:latin typeface="Times New Roman" pitchFamily="18" charset="0"/>
                <a:cs typeface="Times New Roman" pitchFamily="18" charset="0"/>
              </a:rPr>
              <a:t>str</a:t>
            </a:r>
            <a:r>
              <a:rPr lang="en-US" sz="2000" dirty="0">
                <a:latin typeface="Times New Roman" pitchFamily="18" charset="0"/>
                <a:cs typeface="Times New Roman" pitchFamily="18" charset="0"/>
              </a:rPr>
              <a:t>[20];</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"Enter a word: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cin.read</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a:t>
            </a:r>
            <a:r>
              <a:rPr lang="en-US" sz="2000" dirty="0">
                <a:latin typeface="Times New Roman" pitchFamily="18" charset="0"/>
                <a:cs typeface="Times New Roman" pitchFamily="18" charset="0"/>
              </a:rPr>
              <a:t>, 10);   // read 10 chars max</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n = </a:t>
            </a:r>
            <a:r>
              <a:rPr lang="en-US" sz="2000" dirty="0" err="1">
                <a:latin typeface="Times New Roman" pitchFamily="18" charset="0"/>
                <a:cs typeface="Times New Roman" pitchFamily="18" charset="0"/>
              </a:rPr>
              <a:t>cin.gcount</a:t>
            </a:r>
            <a:r>
              <a:rPr lang="en-US" sz="2000" dirty="0">
                <a:latin typeface="Times New Roman" pitchFamily="18" charset="0"/>
                <a:cs typeface="Times New Roman" pitchFamily="18" charset="0"/>
              </a:rPr>
              <a:t>(); // count characters actually read</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"You entered (first 10 chars max):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cout.write</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a:t>
            </a:r>
            <a:r>
              <a:rPr lang="en-US" sz="2000" dirty="0">
                <a:latin typeface="Times New Roman" pitchFamily="18" charset="0"/>
                <a:cs typeface="Times New Roman" pitchFamily="18" charset="0"/>
              </a:rPr>
              <a:t>, n);   // write exact characters read</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 &lt;&lt; </a:t>
            </a:r>
            <a:r>
              <a:rPr lang="en-US" sz="2000" dirty="0" err="1">
                <a:latin typeface="Times New Roman" pitchFamily="18" charset="0"/>
                <a:cs typeface="Times New Roman" pitchFamily="18" charset="0"/>
              </a:rPr>
              <a:t>endl</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return 0;</a:t>
            </a:r>
          </a:p>
          <a:p>
            <a:r>
              <a:rPr lang="en-US" sz="2000" dirty="0">
                <a:latin typeface="Times New Roman" pitchFamily="18" charset="0"/>
                <a:cs typeface="Times New Roman" pitchFamily="18" charset="0"/>
              </a:rPr>
              <a:t>}</a:t>
            </a:r>
          </a:p>
        </p:txBody>
      </p:sp>
      <p:sp>
        <p:nvSpPr>
          <p:cNvPr id="3" name="Rectangle 2"/>
          <p:cNvSpPr/>
          <p:nvPr/>
        </p:nvSpPr>
        <p:spPr>
          <a:xfrm>
            <a:off x="4114799" y="5867400"/>
            <a:ext cx="4807527" cy="646331"/>
          </a:xfrm>
          <a:prstGeom prst="rect">
            <a:avLst/>
          </a:prstGeom>
        </p:spPr>
        <p:txBody>
          <a:bodyPr wrap="square">
            <a:spAutoFit/>
          </a:bodyPr>
          <a:lstStyle/>
          <a:p>
            <a:r>
              <a:rPr lang="en-US" dirty="0">
                <a:latin typeface="Times New Roman" pitchFamily="18" charset="0"/>
                <a:cs typeface="Times New Roman" pitchFamily="18" charset="0"/>
              </a:rPr>
              <a:t>Enter a word: Government Polytechnic </a:t>
            </a:r>
            <a:r>
              <a:rPr lang="en-US" dirty="0" smtClean="0">
                <a:latin typeface="Times New Roman" pitchFamily="18" charset="0"/>
                <a:cs typeface="Times New Roman" pitchFamily="18" charset="0"/>
              </a:rPr>
              <a:t>Pune</a:t>
            </a:r>
          </a:p>
          <a:p>
            <a:r>
              <a:rPr lang="en-US" dirty="0" smtClean="0">
                <a:latin typeface="Times New Roman" pitchFamily="18" charset="0"/>
                <a:cs typeface="Times New Roman" pitchFamily="18" charset="0"/>
              </a:rPr>
              <a:t>You </a:t>
            </a:r>
            <a:r>
              <a:rPr lang="en-US" dirty="0">
                <a:latin typeface="Times New Roman" pitchFamily="18" charset="0"/>
                <a:cs typeface="Times New Roman" pitchFamily="18" charset="0"/>
              </a:rPr>
              <a:t>entered (first 10 chars max): Government</a:t>
            </a:r>
          </a:p>
        </p:txBody>
      </p:sp>
    </p:spTree>
    <p:extLst>
      <p:ext uri="{BB962C8B-B14F-4D97-AF65-F5344CB8AC3E}">
        <p14:creationId xmlns:p14="http://schemas.microsoft.com/office/powerpoint/2010/main" val="3496290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86800" cy="3416320"/>
          </a:xfrm>
          <a:prstGeom prst="rect">
            <a:avLst/>
          </a:prstGeom>
        </p:spPr>
        <p:txBody>
          <a:bodyPr wrap="square">
            <a:spAutoFit/>
          </a:bodyPr>
          <a:lstStyle/>
          <a:p>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Input </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 → get(), </a:t>
            </a:r>
            <a:r>
              <a:rPr lang="en-US" dirty="0" err="1">
                <a:latin typeface="Times New Roman" pitchFamily="18" charset="0"/>
                <a:cs typeface="Times New Roman" pitchFamily="18" charset="0"/>
              </a:rPr>
              <a:t>getline</a:t>
            </a:r>
            <a:r>
              <a:rPr lang="en-US" dirty="0">
                <a:latin typeface="Times New Roman" pitchFamily="18" charset="0"/>
                <a:cs typeface="Times New Roman" pitchFamily="18" charset="0"/>
              </a:rPr>
              <a:t>(), read(), peek(), </a:t>
            </a:r>
            <a:r>
              <a:rPr lang="en-US" dirty="0" err="1">
                <a:latin typeface="Times New Roman" pitchFamily="18" charset="0"/>
                <a:cs typeface="Times New Roman" pitchFamily="18" charset="0"/>
              </a:rPr>
              <a:t>putback</a:t>
            </a:r>
            <a:r>
              <a:rPr lang="en-US" dirty="0">
                <a:latin typeface="Times New Roman" pitchFamily="18" charset="0"/>
                <a:cs typeface="Times New Roman" pitchFamily="18" charset="0"/>
              </a:rPr>
              <a:t>(), ignore(), </a:t>
            </a:r>
            <a:r>
              <a:rPr lang="en-US" dirty="0" err="1">
                <a:latin typeface="Times New Roman" pitchFamily="18" charset="0"/>
                <a:cs typeface="Times New Roman" pitchFamily="18" charset="0"/>
              </a:rPr>
              <a:t>gcount</a:t>
            </a:r>
            <a:r>
              <a:rPr lang="en-US" dirty="0">
                <a:latin typeface="Times New Roman" pitchFamily="18" charset="0"/>
                <a:cs typeface="Times New Roman" pitchFamily="18" charset="0"/>
              </a:rPr>
              <a:t>().</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Output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 put(), write().</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Used for character-level or raw binary data handling.</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Faster but not formatted (e.g., no automatic space/tab handling).</a:t>
            </a:r>
          </a:p>
          <a:p>
            <a:pPr marL="285750" indent="-285750">
              <a:buFont typeface="Arial" pitchFamily="34" charset="0"/>
              <a:buChar char="•"/>
            </a:pPr>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These functions are commonly used in file handling (binary files, raw data processing).</a:t>
            </a:r>
          </a:p>
        </p:txBody>
      </p:sp>
    </p:spTree>
    <p:extLst>
      <p:ext uri="{BB962C8B-B14F-4D97-AF65-F5344CB8AC3E}">
        <p14:creationId xmlns:p14="http://schemas.microsoft.com/office/powerpoint/2010/main" val="918289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7346"/>
            <a:ext cx="8610600" cy="4524315"/>
          </a:xfrm>
          <a:prstGeom prst="rect">
            <a:avLst/>
          </a:prstGeom>
        </p:spPr>
        <p:txBody>
          <a:bodyPr wrap="square">
            <a:spAutoFit/>
          </a:bodyPr>
          <a:lstStyle/>
          <a:p>
            <a:r>
              <a:rPr lang="en-US" b="1" dirty="0">
                <a:latin typeface="Times New Roman" pitchFamily="18" charset="0"/>
                <a:cs typeface="Times New Roman" pitchFamily="18" charset="0"/>
              </a:rPr>
              <a:t>File Stream Classes :</a:t>
            </a:r>
          </a:p>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C++, files are handled using stream classes from the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 library.</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 file stream is like a pipeline between the program and a file.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You can read from or write to files using these classes.</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File Stream </a:t>
            </a:r>
            <a:r>
              <a:rPr lang="en-US" dirty="0" smtClean="0">
                <a:latin typeface="Times New Roman" pitchFamily="18" charset="0"/>
                <a:cs typeface="Times New Roman" pitchFamily="18" charset="0"/>
              </a:rPr>
              <a:t>Classes: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Class	</a:t>
            </a:r>
            <a:r>
              <a:rPr lang="en-US" dirty="0" smtClean="0">
                <a:latin typeface="Times New Roman" pitchFamily="18" charset="0"/>
                <a:cs typeface="Times New Roman" pitchFamily="18" charset="0"/>
              </a:rPr>
              <a:t>	Purpose</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Example </a:t>
            </a:r>
            <a:r>
              <a:rPr lang="en-US" dirty="0">
                <a:latin typeface="Times New Roman" pitchFamily="18" charset="0"/>
                <a:cs typeface="Times New Roman" pitchFamily="18" charset="0"/>
              </a:rPr>
              <a:t>Object</a:t>
            </a:r>
          </a:p>
          <a:p>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Input </a:t>
            </a:r>
            <a:r>
              <a:rPr lang="en-US" dirty="0">
                <a:latin typeface="Times New Roman" pitchFamily="18" charset="0"/>
                <a:cs typeface="Times New Roman" pitchFamily="18" charset="0"/>
              </a:rPr>
              <a:t>file stream (read from files)	</a:t>
            </a: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fin;</a:t>
            </a:r>
          </a:p>
          <a:p>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Output </a:t>
            </a:r>
            <a:r>
              <a:rPr lang="en-US" dirty="0">
                <a:latin typeface="Times New Roman" pitchFamily="18" charset="0"/>
                <a:cs typeface="Times New Roman" pitchFamily="18" charset="0"/>
              </a:rPr>
              <a:t>file stream (write to files)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File </a:t>
            </a:r>
            <a:r>
              <a:rPr lang="en-US" dirty="0">
                <a:latin typeface="Times New Roman" pitchFamily="18" charset="0"/>
                <a:cs typeface="Times New Roman" pitchFamily="18" charset="0"/>
              </a:rPr>
              <a:t>stream (read + write)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file;</a:t>
            </a: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All </a:t>
            </a:r>
            <a:r>
              <a:rPr lang="en-US" dirty="0">
                <a:latin typeface="Times New Roman" pitchFamily="18" charset="0"/>
                <a:cs typeface="Times New Roman" pitchFamily="18" charset="0"/>
              </a:rPr>
              <a:t>these classes are derived from the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base class.</a:t>
            </a:r>
          </a:p>
        </p:txBody>
      </p:sp>
    </p:spTree>
    <p:extLst>
      <p:ext uri="{BB962C8B-B14F-4D97-AF65-F5344CB8AC3E}">
        <p14:creationId xmlns:p14="http://schemas.microsoft.com/office/powerpoint/2010/main" val="2690134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51344"/>
            <a:ext cx="8229600" cy="4801314"/>
          </a:xfrm>
          <a:prstGeom prst="rect">
            <a:avLst/>
          </a:prstGeom>
        </p:spPr>
        <p:txBody>
          <a:bodyPr wrap="square">
            <a:spAutoFit/>
          </a:bodyPr>
          <a:lstStyle/>
          <a:p>
            <a:r>
              <a:rPr lang="en-US" b="1" dirty="0">
                <a:latin typeface="Times New Roman" pitchFamily="18" charset="0"/>
                <a:cs typeface="Times New Roman" pitchFamily="18" charset="0"/>
              </a:rPr>
              <a:t>Opening and Closing </a:t>
            </a:r>
            <a:r>
              <a:rPr lang="en-US" b="1" dirty="0" smtClean="0">
                <a:latin typeface="Times New Roman" pitchFamily="18" charset="0"/>
                <a:cs typeface="Times New Roman" pitchFamily="18" charset="0"/>
              </a:rPr>
              <a:t>Files:</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Syntax:</a:t>
            </a:r>
          </a:p>
          <a:p>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fin("file.txt");   // open file for reading</a:t>
            </a:r>
          </a:p>
          <a:p>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("file.txt");  // open file for writing</a:t>
            </a:r>
          </a:p>
          <a:p>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file("file.txt");   // open file for both read &amp; write</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OR using .open():</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fin.open</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a:t>
            </a:r>
          </a:p>
          <a:p>
            <a:r>
              <a:rPr lang="en-US" dirty="0" err="1">
                <a:latin typeface="Times New Roman" pitchFamily="18" charset="0"/>
                <a:cs typeface="Times New Roman" pitchFamily="18" charset="0"/>
              </a:rPr>
              <a:t>fout.open</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a:t>
            </a:r>
          </a:p>
          <a:p>
            <a:r>
              <a:rPr lang="en-US" dirty="0" err="1">
                <a:latin typeface="Times New Roman" pitchFamily="18" charset="0"/>
                <a:cs typeface="Times New Roman" pitchFamily="18" charset="0"/>
              </a:rPr>
              <a:t>file.open</a:t>
            </a:r>
            <a:r>
              <a:rPr lang="en-US" dirty="0">
                <a:latin typeface="Times New Roman" pitchFamily="18" charset="0"/>
                <a:cs typeface="Times New Roman" pitchFamily="18" charset="0"/>
              </a:rPr>
              <a:t>("file.txt",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Closing:</a:t>
            </a:r>
          </a:p>
          <a:p>
            <a:r>
              <a:rPr lang="en-US" dirty="0" err="1">
                <a:latin typeface="Times New Roman" pitchFamily="18" charset="0"/>
                <a:cs typeface="Times New Roman" pitchFamily="18" charset="0"/>
              </a:rPr>
              <a:t>fin.close</a:t>
            </a:r>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fout.close</a:t>
            </a:r>
            <a:r>
              <a:rPr lang="en-US" dirty="0">
                <a:latin typeface="Times New Roman" pitchFamily="18" charset="0"/>
                <a:cs typeface="Times New Roman" pitchFamily="18" charset="0"/>
              </a:rPr>
              <a:t>();</a:t>
            </a:r>
          </a:p>
          <a:p>
            <a:r>
              <a:rPr lang="en-US" dirty="0" err="1">
                <a:latin typeface="Times New Roman" pitchFamily="18" charset="0"/>
                <a:cs typeface="Times New Roman" pitchFamily="18" charset="0"/>
              </a:rPr>
              <a:t>file.close</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3268627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3970318"/>
          </a:xfrm>
          <a:prstGeom prst="rect">
            <a:avLst/>
          </a:prstGeom>
        </p:spPr>
        <p:txBody>
          <a:bodyPr wrap="square">
            <a:spAutoFit/>
          </a:bodyPr>
          <a:lstStyle/>
          <a:p>
            <a:r>
              <a:rPr lang="en-US" b="1" dirty="0">
                <a:latin typeface="Times New Roman" pitchFamily="18" charset="0"/>
                <a:cs typeface="Times New Roman" pitchFamily="18" charset="0"/>
              </a:rPr>
              <a:t>File Open </a:t>
            </a:r>
            <a:r>
              <a:rPr lang="en-US" b="1" dirty="0" smtClean="0">
                <a:latin typeface="Times New Roman" pitchFamily="18" charset="0"/>
                <a:cs typeface="Times New Roman" pitchFamily="18" charset="0"/>
              </a:rPr>
              <a:t>Modes:</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Mode	</a:t>
            </a:r>
            <a:r>
              <a:rPr lang="en-US" dirty="0" smtClean="0">
                <a:latin typeface="Times New Roman" pitchFamily="18" charset="0"/>
                <a:cs typeface="Times New Roman" pitchFamily="18" charset="0"/>
              </a:rPr>
              <a:t>	Meaning</a:t>
            </a:r>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a:t>
            </a:r>
            <a:r>
              <a:rPr lang="en-US" dirty="0" smtClean="0">
                <a:latin typeface="Times New Roman" pitchFamily="18" charset="0"/>
                <a:cs typeface="Times New Roman" pitchFamily="18" charset="0"/>
              </a:rPr>
              <a:t>	Open </a:t>
            </a:r>
            <a:r>
              <a:rPr lang="en-US" dirty="0">
                <a:latin typeface="Times New Roman" pitchFamily="18" charset="0"/>
                <a:cs typeface="Times New Roman" pitchFamily="18" charset="0"/>
              </a:rPr>
              <a:t>file for reading</a:t>
            </a: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	</a:t>
            </a:r>
            <a:r>
              <a:rPr lang="en-US" dirty="0" smtClean="0">
                <a:latin typeface="Times New Roman" pitchFamily="18" charset="0"/>
                <a:cs typeface="Times New Roman" pitchFamily="18" charset="0"/>
              </a:rPr>
              <a:t>	Open </a:t>
            </a:r>
            <a:r>
              <a:rPr lang="en-US" dirty="0">
                <a:latin typeface="Times New Roman" pitchFamily="18" charset="0"/>
                <a:cs typeface="Times New Roman" pitchFamily="18" charset="0"/>
              </a:rPr>
              <a:t>file for writing</a:t>
            </a: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::app	</a:t>
            </a:r>
            <a:r>
              <a:rPr lang="en-US" dirty="0" smtClean="0">
                <a:latin typeface="Times New Roman" pitchFamily="18" charset="0"/>
                <a:cs typeface="Times New Roman" pitchFamily="18" charset="0"/>
              </a:rPr>
              <a:t>	Append </a:t>
            </a:r>
            <a:r>
              <a:rPr lang="en-US" dirty="0">
                <a:latin typeface="Times New Roman" pitchFamily="18" charset="0"/>
                <a:cs typeface="Times New Roman" pitchFamily="18" charset="0"/>
              </a:rPr>
              <a:t>at the end of file</a:t>
            </a: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trunc</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Truncate </a:t>
            </a:r>
            <a:r>
              <a:rPr lang="en-US" dirty="0">
                <a:latin typeface="Times New Roman" pitchFamily="18" charset="0"/>
                <a:cs typeface="Times New Roman" pitchFamily="18" charset="0"/>
              </a:rPr>
              <a:t>(delete) old contents</a:t>
            </a: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	Open file in binary mode</a:t>
            </a:r>
          </a:p>
          <a:p>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::ate	</a:t>
            </a:r>
            <a:r>
              <a:rPr lang="en-US" dirty="0" smtClean="0">
                <a:latin typeface="Times New Roman" pitchFamily="18" charset="0"/>
                <a:cs typeface="Times New Roman" pitchFamily="18" charset="0"/>
              </a:rPr>
              <a:t>	Open </a:t>
            </a:r>
            <a:r>
              <a:rPr lang="en-US" dirty="0">
                <a:latin typeface="Times New Roman" pitchFamily="18" charset="0"/>
                <a:cs typeface="Times New Roman" pitchFamily="18" charset="0"/>
              </a:rPr>
              <a:t>file and move to end</a:t>
            </a: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Multiple </a:t>
            </a:r>
            <a:r>
              <a:rPr lang="en-US" dirty="0">
                <a:latin typeface="Times New Roman" pitchFamily="18" charset="0"/>
                <a:cs typeface="Times New Roman" pitchFamily="18" charset="0"/>
              </a:rPr>
              <a:t>modes can be combined using | (bitwise OR).</a:t>
            </a:r>
          </a:p>
          <a:p>
            <a:r>
              <a:rPr lang="en-US" dirty="0">
                <a:latin typeface="Times New Roman" pitchFamily="18" charset="0"/>
                <a:cs typeface="Times New Roman" pitchFamily="18" charset="0"/>
              </a:rPr>
              <a:t>Example:</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file("data.txt",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::app);</a:t>
            </a:r>
          </a:p>
        </p:txBody>
      </p:sp>
    </p:spTree>
    <p:extLst>
      <p:ext uri="{BB962C8B-B14F-4D97-AF65-F5344CB8AC3E}">
        <p14:creationId xmlns:p14="http://schemas.microsoft.com/office/powerpoint/2010/main" val="23755771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1" y="228600"/>
            <a:ext cx="8839200" cy="17543264"/>
          </a:xfrm>
          <a:prstGeom prst="rect">
            <a:avLst/>
          </a:prstGeom>
        </p:spPr>
        <p:txBody>
          <a:bodyPr wrap="square">
            <a:spAutoFit/>
          </a:bodyPr>
          <a:lstStyle/>
          <a:p>
            <a:r>
              <a:rPr lang="en-US" dirty="0"/>
              <a:t>#include &lt;</a:t>
            </a:r>
            <a:r>
              <a:rPr lang="en-US" dirty="0" err="1"/>
              <a:t>iostream</a:t>
            </a:r>
            <a:r>
              <a:rPr lang="en-US" dirty="0"/>
              <a:t>&gt;</a:t>
            </a:r>
          </a:p>
          <a:p>
            <a:r>
              <a:rPr lang="en-US" dirty="0"/>
              <a:t>#include &lt;</a:t>
            </a:r>
            <a:r>
              <a:rPr lang="en-US" dirty="0" err="1"/>
              <a:t>fstream</a:t>
            </a:r>
            <a:r>
              <a:rPr lang="en-US" dirty="0"/>
              <a:t>&gt;</a:t>
            </a:r>
          </a:p>
          <a:p>
            <a:r>
              <a:rPr lang="en-US" dirty="0"/>
              <a:t>using namespace </a:t>
            </a:r>
            <a:r>
              <a:rPr lang="en-US" dirty="0" err="1"/>
              <a:t>std</a:t>
            </a:r>
            <a:r>
              <a:rPr lang="en-US" dirty="0"/>
              <a:t>;</a:t>
            </a:r>
          </a:p>
          <a:p>
            <a:endParaRPr lang="en-US" dirty="0"/>
          </a:p>
          <a:p>
            <a:r>
              <a:rPr lang="en-US" dirty="0" err="1"/>
              <a:t>int</a:t>
            </a:r>
            <a:r>
              <a:rPr lang="en-US" dirty="0"/>
              <a:t> main() {</a:t>
            </a:r>
          </a:p>
          <a:p>
            <a:r>
              <a:rPr lang="en-US" dirty="0"/>
              <a:t>    string text;</a:t>
            </a:r>
          </a:p>
          <a:p>
            <a:endParaRPr lang="en-US" dirty="0"/>
          </a:p>
          <a:p>
            <a:r>
              <a:rPr lang="en-US" dirty="0"/>
              <a:t>    // 1. </a:t>
            </a:r>
            <a:r>
              <a:rPr lang="en-US" dirty="0" err="1"/>
              <a:t>ios</a:t>
            </a:r>
            <a:r>
              <a:rPr lang="en-US" dirty="0"/>
              <a:t>::out (write to file, overwrite if exists)</a:t>
            </a:r>
          </a:p>
          <a:p>
            <a:r>
              <a:rPr lang="en-US" dirty="0"/>
              <a:t>    </a:t>
            </a:r>
            <a:r>
              <a:rPr lang="en-US" dirty="0" err="1"/>
              <a:t>ofstream</a:t>
            </a:r>
            <a:r>
              <a:rPr lang="en-US" dirty="0"/>
              <a:t> </a:t>
            </a:r>
            <a:r>
              <a:rPr lang="en-US" dirty="0" err="1"/>
              <a:t>fout</a:t>
            </a:r>
            <a:r>
              <a:rPr lang="en-US" dirty="0"/>
              <a:t>("allmodes.txt", </a:t>
            </a:r>
            <a:r>
              <a:rPr lang="en-US" dirty="0" err="1"/>
              <a:t>ios</a:t>
            </a:r>
            <a:r>
              <a:rPr lang="en-US" dirty="0"/>
              <a:t>::out);</a:t>
            </a:r>
          </a:p>
          <a:p>
            <a:r>
              <a:rPr lang="en-US" dirty="0"/>
              <a:t>    </a:t>
            </a:r>
            <a:r>
              <a:rPr lang="en-US" dirty="0" err="1"/>
              <a:t>fout</a:t>
            </a:r>
            <a:r>
              <a:rPr lang="en-US" dirty="0"/>
              <a:t> &lt;&lt; "[</a:t>
            </a:r>
            <a:r>
              <a:rPr lang="en-US" dirty="0" err="1"/>
              <a:t>ios</a:t>
            </a:r>
            <a:r>
              <a:rPr lang="en-US" dirty="0"/>
              <a:t>::out] Writing new file content.\n";</a:t>
            </a:r>
          </a:p>
          <a:p>
            <a:r>
              <a:rPr lang="en-US" dirty="0"/>
              <a:t>    </a:t>
            </a:r>
            <a:r>
              <a:rPr lang="en-US" dirty="0" err="1"/>
              <a:t>fout.close</a:t>
            </a:r>
            <a:r>
              <a:rPr lang="en-US" dirty="0"/>
              <a:t>();</a:t>
            </a:r>
          </a:p>
          <a:p>
            <a:r>
              <a:rPr lang="en-US" dirty="0"/>
              <a:t>    </a:t>
            </a:r>
            <a:r>
              <a:rPr lang="en-US" dirty="0" err="1"/>
              <a:t>cout</a:t>
            </a:r>
            <a:r>
              <a:rPr lang="en-US" dirty="0"/>
              <a:t> &lt;&lt; "Written using </a:t>
            </a:r>
            <a:r>
              <a:rPr lang="en-US" dirty="0" err="1"/>
              <a:t>ios</a:t>
            </a:r>
            <a:r>
              <a:rPr lang="en-US" dirty="0"/>
              <a:t>::out (overwrites file).\n";</a:t>
            </a:r>
          </a:p>
          <a:p>
            <a:endParaRPr lang="en-US" dirty="0"/>
          </a:p>
          <a:p>
            <a:r>
              <a:rPr lang="en-US" dirty="0"/>
              <a:t>    // 2. </a:t>
            </a:r>
            <a:r>
              <a:rPr lang="en-US" dirty="0" err="1"/>
              <a:t>ios</a:t>
            </a:r>
            <a:r>
              <a:rPr lang="en-US" dirty="0"/>
              <a:t>::app (append at the end of file)</a:t>
            </a:r>
          </a:p>
          <a:p>
            <a:r>
              <a:rPr lang="en-US" dirty="0"/>
              <a:t>    </a:t>
            </a:r>
            <a:r>
              <a:rPr lang="en-US" dirty="0" err="1"/>
              <a:t>fout.open</a:t>
            </a:r>
            <a:r>
              <a:rPr lang="en-US" dirty="0"/>
              <a:t>("allmodes.txt", </a:t>
            </a:r>
            <a:r>
              <a:rPr lang="en-US" dirty="0" err="1"/>
              <a:t>ios</a:t>
            </a:r>
            <a:r>
              <a:rPr lang="en-US" dirty="0"/>
              <a:t>::app);</a:t>
            </a:r>
          </a:p>
          <a:p>
            <a:r>
              <a:rPr lang="en-US" dirty="0"/>
              <a:t>    </a:t>
            </a:r>
            <a:r>
              <a:rPr lang="en-US" dirty="0" err="1"/>
              <a:t>fout</a:t>
            </a:r>
            <a:r>
              <a:rPr lang="en-US" dirty="0"/>
              <a:t> &lt;&lt; "[</a:t>
            </a:r>
            <a:r>
              <a:rPr lang="en-US" dirty="0" err="1"/>
              <a:t>ios</a:t>
            </a:r>
            <a:r>
              <a:rPr lang="en-US" dirty="0"/>
              <a:t>::app] Appending this line at the end.\n";</a:t>
            </a:r>
          </a:p>
          <a:p>
            <a:r>
              <a:rPr lang="en-US" dirty="0"/>
              <a:t>    </a:t>
            </a:r>
            <a:r>
              <a:rPr lang="en-US" dirty="0" err="1"/>
              <a:t>fout.close</a:t>
            </a:r>
            <a:r>
              <a:rPr lang="en-US" dirty="0"/>
              <a:t>();</a:t>
            </a:r>
          </a:p>
          <a:p>
            <a:r>
              <a:rPr lang="en-US" dirty="0"/>
              <a:t>    </a:t>
            </a:r>
            <a:r>
              <a:rPr lang="en-US" dirty="0" err="1"/>
              <a:t>cout</a:t>
            </a:r>
            <a:r>
              <a:rPr lang="en-US" dirty="0"/>
              <a:t> &lt;&lt; "Appended using </a:t>
            </a:r>
            <a:r>
              <a:rPr lang="en-US" dirty="0" err="1"/>
              <a:t>ios</a:t>
            </a:r>
            <a:r>
              <a:rPr lang="en-US" dirty="0"/>
              <a:t>::app.\n";</a:t>
            </a:r>
          </a:p>
          <a:p>
            <a:endParaRPr lang="en-US" dirty="0"/>
          </a:p>
          <a:p>
            <a:r>
              <a:rPr lang="en-US" dirty="0"/>
              <a:t>    // 3. </a:t>
            </a:r>
            <a:r>
              <a:rPr lang="en-US" dirty="0" err="1"/>
              <a:t>ios</a:t>
            </a:r>
            <a:r>
              <a:rPr lang="en-US" dirty="0"/>
              <a:t>::</a:t>
            </a:r>
            <a:r>
              <a:rPr lang="en-US" dirty="0" err="1"/>
              <a:t>trunc</a:t>
            </a:r>
            <a:r>
              <a:rPr lang="en-US" dirty="0"/>
              <a:t> (delete old contents before writing new)</a:t>
            </a:r>
          </a:p>
          <a:p>
            <a:r>
              <a:rPr lang="en-US" dirty="0"/>
              <a:t>    </a:t>
            </a:r>
            <a:r>
              <a:rPr lang="en-US" dirty="0" err="1"/>
              <a:t>fout.open</a:t>
            </a:r>
            <a:r>
              <a:rPr lang="en-US" dirty="0"/>
              <a:t>("allmodes.txt", </a:t>
            </a:r>
            <a:r>
              <a:rPr lang="en-US" dirty="0" err="1"/>
              <a:t>ios</a:t>
            </a:r>
            <a:r>
              <a:rPr lang="en-US" dirty="0"/>
              <a:t>::</a:t>
            </a:r>
            <a:r>
              <a:rPr lang="en-US" dirty="0" err="1"/>
              <a:t>trunc</a:t>
            </a:r>
            <a:r>
              <a:rPr lang="en-US" dirty="0"/>
              <a:t>);</a:t>
            </a:r>
          </a:p>
          <a:p>
            <a:r>
              <a:rPr lang="en-US" dirty="0"/>
              <a:t>    </a:t>
            </a:r>
            <a:r>
              <a:rPr lang="en-US" dirty="0" err="1"/>
              <a:t>fout</a:t>
            </a:r>
            <a:r>
              <a:rPr lang="en-US" dirty="0"/>
              <a:t> &lt;&lt; "[</a:t>
            </a:r>
            <a:r>
              <a:rPr lang="en-US" dirty="0" err="1"/>
              <a:t>ios</a:t>
            </a:r>
            <a:r>
              <a:rPr lang="en-US" dirty="0"/>
              <a:t>::</a:t>
            </a:r>
            <a:r>
              <a:rPr lang="en-US" dirty="0" err="1"/>
              <a:t>trunc</a:t>
            </a:r>
            <a:r>
              <a:rPr lang="en-US" dirty="0"/>
              <a:t>] Old content erased. Fresh text written.\n";</a:t>
            </a:r>
          </a:p>
          <a:p>
            <a:r>
              <a:rPr lang="en-US" dirty="0"/>
              <a:t>    </a:t>
            </a:r>
            <a:r>
              <a:rPr lang="en-US" dirty="0" err="1"/>
              <a:t>fout.close</a:t>
            </a:r>
            <a:r>
              <a:rPr lang="en-US" dirty="0"/>
              <a:t>();</a:t>
            </a:r>
          </a:p>
          <a:p>
            <a:r>
              <a:rPr lang="en-US" dirty="0"/>
              <a:t>    </a:t>
            </a:r>
            <a:r>
              <a:rPr lang="en-US" dirty="0" err="1"/>
              <a:t>cout</a:t>
            </a:r>
            <a:r>
              <a:rPr lang="en-US" dirty="0"/>
              <a:t> &lt;&lt; "File contents truncated and new text written.\n";</a:t>
            </a:r>
          </a:p>
          <a:p>
            <a:endParaRPr lang="en-US" dirty="0"/>
          </a:p>
          <a:p>
            <a:r>
              <a:rPr lang="en-US" dirty="0"/>
              <a:t>    // 4. </a:t>
            </a:r>
            <a:r>
              <a:rPr lang="en-US" dirty="0" err="1"/>
              <a:t>ios</a:t>
            </a:r>
            <a:r>
              <a:rPr lang="en-US" dirty="0"/>
              <a:t>::in (open file for reading)</a:t>
            </a:r>
          </a:p>
          <a:p>
            <a:r>
              <a:rPr lang="en-US" dirty="0"/>
              <a:t>    </a:t>
            </a:r>
            <a:r>
              <a:rPr lang="en-US" dirty="0" err="1"/>
              <a:t>ifstream</a:t>
            </a:r>
            <a:r>
              <a:rPr lang="en-US" dirty="0"/>
              <a:t> fin("allmodes.txt", </a:t>
            </a:r>
            <a:r>
              <a:rPr lang="en-US" dirty="0" err="1"/>
              <a:t>ios</a:t>
            </a:r>
            <a:r>
              <a:rPr lang="en-US" dirty="0"/>
              <a:t>::in);</a:t>
            </a:r>
          </a:p>
          <a:p>
            <a:r>
              <a:rPr lang="en-US" dirty="0"/>
              <a:t>    </a:t>
            </a:r>
            <a:r>
              <a:rPr lang="en-US" dirty="0" err="1"/>
              <a:t>cout</a:t>
            </a:r>
            <a:r>
              <a:rPr lang="en-US" dirty="0"/>
              <a:t> &lt;&lt; "\</a:t>
            </a:r>
            <a:r>
              <a:rPr lang="en-US" dirty="0" err="1"/>
              <a:t>nReading</a:t>
            </a:r>
            <a:r>
              <a:rPr lang="en-US" dirty="0"/>
              <a:t> file with </a:t>
            </a:r>
            <a:r>
              <a:rPr lang="en-US" dirty="0" err="1"/>
              <a:t>ios</a:t>
            </a:r>
            <a:r>
              <a:rPr lang="en-US" dirty="0"/>
              <a:t>::in:\n";</a:t>
            </a:r>
          </a:p>
          <a:p>
            <a:r>
              <a:rPr lang="en-US" dirty="0"/>
              <a:t>    while (</a:t>
            </a:r>
            <a:r>
              <a:rPr lang="en-US" dirty="0" err="1"/>
              <a:t>getline</a:t>
            </a:r>
            <a:r>
              <a:rPr lang="en-US" dirty="0"/>
              <a:t>(fin, text)) {</a:t>
            </a:r>
          </a:p>
          <a:p>
            <a:r>
              <a:rPr lang="en-US" dirty="0"/>
              <a:t>        </a:t>
            </a:r>
            <a:r>
              <a:rPr lang="en-US" dirty="0" err="1"/>
              <a:t>cout</a:t>
            </a:r>
            <a:r>
              <a:rPr lang="en-US" dirty="0"/>
              <a:t> &lt;&lt; text &lt;&lt; </a:t>
            </a:r>
            <a:r>
              <a:rPr lang="en-US" dirty="0" err="1"/>
              <a:t>endl</a:t>
            </a:r>
            <a:r>
              <a:rPr lang="en-US" dirty="0"/>
              <a:t>;</a:t>
            </a:r>
          </a:p>
          <a:p>
            <a:r>
              <a:rPr lang="en-US" dirty="0"/>
              <a:t>    }</a:t>
            </a:r>
          </a:p>
          <a:p>
            <a:r>
              <a:rPr lang="en-US" dirty="0"/>
              <a:t>    </a:t>
            </a:r>
            <a:r>
              <a:rPr lang="en-US" dirty="0" err="1"/>
              <a:t>fin.close</a:t>
            </a:r>
            <a:r>
              <a:rPr lang="en-US" dirty="0"/>
              <a:t>();</a:t>
            </a:r>
          </a:p>
          <a:p>
            <a:endParaRPr lang="en-US" dirty="0"/>
          </a:p>
          <a:p>
            <a:r>
              <a:rPr lang="en-US" dirty="0"/>
              <a:t>    // 5. </a:t>
            </a:r>
            <a:r>
              <a:rPr lang="en-US" dirty="0" err="1"/>
              <a:t>ios</a:t>
            </a:r>
            <a:r>
              <a:rPr lang="en-US" dirty="0"/>
              <a:t>::ate (open file and move pointer to end, then allow read/write)</a:t>
            </a:r>
          </a:p>
          <a:p>
            <a:r>
              <a:rPr lang="en-US" dirty="0"/>
              <a:t>    </a:t>
            </a:r>
            <a:r>
              <a:rPr lang="en-US" dirty="0" err="1"/>
              <a:t>fstream</a:t>
            </a:r>
            <a:r>
              <a:rPr lang="en-US" dirty="0"/>
              <a:t> f("allmodes.txt", </a:t>
            </a:r>
            <a:r>
              <a:rPr lang="en-US" dirty="0" err="1"/>
              <a:t>ios</a:t>
            </a:r>
            <a:r>
              <a:rPr lang="en-US" dirty="0"/>
              <a:t>::in | </a:t>
            </a:r>
            <a:r>
              <a:rPr lang="en-US" dirty="0" err="1"/>
              <a:t>ios</a:t>
            </a:r>
            <a:r>
              <a:rPr lang="en-US" dirty="0"/>
              <a:t>::out | </a:t>
            </a:r>
            <a:r>
              <a:rPr lang="en-US" dirty="0" err="1"/>
              <a:t>ios</a:t>
            </a:r>
            <a:r>
              <a:rPr lang="en-US" dirty="0"/>
              <a:t>::ate);</a:t>
            </a:r>
          </a:p>
          <a:p>
            <a:r>
              <a:rPr lang="en-US" dirty="0"/>
              <a:t>    f &lt;&lt; "[</a:t>
            </a:r>
            <a:r>
              <a:rPr lang="en-US" dirty="0" err="1"/>
              <a:t>ios</a:t>
            </a:r>
            <a:r>
              <a:rPr lang="en-US" dirty="0"/>
              <a:t>::ate] Added this line at the end.\n";</a:t>
            </a:r>
          </a:p>
          <a:p>
            <a:r>
              <a:rPr lang="en-US" dirty="0"/>
              <a:t>    </a:t>
            </a:r>
            <a:r>
              <a:rPr lang="en-US" dirty="0" err="1"/>
              <a:t>f.seekg</a:t>
            </a:r>
            <a:r>
              <a:rPr lang="en-US" dirty="0"/>
              <a:t>(0); // reset pointer to beginning for reading</a:t>
            </a:r>
          </a:p>
          <a:p>
            <a:r>
              <a:rPr lang="en-US" dirty="0"/>
              <a:t>    </a:t>
            </a:r>
            <a:r>
              <a:rPr lang="en-US" dirty="0" err="1"/>
              <a:t>cout</a:t>
            </a:r>
            <a:r>
              <a:rPr lang="en-US" dirty="0"/>
              <a:t> &lt;&lt; "\</a:t>
            </a:r>
            <a:r>
              <a:rPr lang="en-US" dirty="0" err="1"/>
              <a:t>nReading</a:t>
            </a:r>
            <a:r>
              <a:rPr lang="en-US" dirty="0"/>
              <a:t> file after </a:t>
            </a:r>
            <a:r>
              <a:rPr lang="en-US" dirty="0" err="1"/>
              <a:t>ios</a:t>
            </a:r>
            <a:r>
              <a:rPr lang="en-US" dirty="0"/>
              <a:t>::ate:\n";</a:t>
            </a:r>
          </a:p>
          <a:p>
            <a:r>
              <a:rPr lang="en-US" dirty="0"/>
              <a:t>    while (</a:t>
            </a:r>
            <a:r>
              <a:rPr lang="en-US" dirty="0" err="1"/>
              <a:t>getline</a:t>
            </a:r>
            <a:r>
              <a:rPr lang="en-US" dirty="0"/>
              <a:t>(f, text)) {</a:t>
            </a:r>
          </a:p>
          <a:p>
            <a:r>
              <a:rPr lang="en-US" dirty="0"/>
              <a:t>        </a:t>
            </a:r>
            <a:r>
              <a:rPr lang="en-US" dirty="0" err="1"/>
              <a:t>cout</a:t>
            </a:r>
            <a:r>
              <a:rPr lang="en-US" dirty="0"/>
              <a:t> &lt;&lt; text &lt;&lt; </a:t>
            </a:r>
            <a:r>
              <a:rPr lang="en-US" dirty="0" err="1"/>
              <a:t>endl</a:t>
            </a:r>
            <a:r>
              <a:rPr lang="en-US" dirty="0"/>
              <a:t>;</a:t>
            </a:r>
          </a:p>
          <a:p>
            <a:r>
              <a:rPr lang="en-US" dirty="0"/>
              <a:t>    }</a:t>
            </a:r>
          </a:p>
          <a:p>
            <a:r>
              <a:rPr lang="en-US" dirty="0"/>
              <a:t>    </a:t>
            </a:r>
            <a:r>
              <a:rPr lang="en-US" dirty="0" err="1"/>
              <a:t>f.close</a:t>
            </a:r>
            <a:r>
              <a:rPr lang="en-US" dirty="0"/>
              <a:t>();</a:t>
            </a:r>
          </a:p>
          <a:p>
            <a:endParaRPr lang="en-US" dirty="0"/>
          </a:p>
          <a:p>
            <a:r>
              <a:rPr lang="en-US" dirty="0"/>
              <a:t>    return 0;</a:t>
            </a:r>
          </a:p>
          <a:p>
            <a:r>
              <a:rPr lang="en-US" dirty="0" smtClean="0"/>
              <a:t>}</a:t>
            </a:r>
          </a:p>
          <a:p>
            <a:endParaRPr lang="en-US" dirty="0"/>
          </a:p>
          <a:p>
            <a:endParaRPr lang="en-US" dirty="0" smtClean="0"/>
          </a:p>
          <a:p>
            <a:r>
              <a:rPr lang="en-US" dirty="0" smtClean="0"/>
              <a:t>//output</a:t>
            </a:r>
          </a:p>
          <a:p>
            <a:r>
              <a:rPr lang="en-US" dirty="0"/>
              <a:t>Written using </a:t>
            </a:r>
            <a:r>
              <a:rPr lang="en-US" dirty="0" err="1"/>
              <a:t>ios</a:t>
            </a:r>
            <a:r>
              <a:rPr lang="en-US" dirty="0"/>
              <a:t>::out (overwrites file).</a:t>
            </a:r>
          </a:p>
          <a:p>
            <a:r>
              <a:rPr lang="en-US" dirty="0"/>
              <a:t>Appended using </a:t>
            </a:r>
            <a:r>
              <a:rPr lang="en-US" dirty="0" err="1"/>
              <a:t>ios</a:t>
            </a:r>
            <a:r>
              <a:rPr lang="en-US" dirty="0"/>
              <a:t>::app.</a:t>
            </a:r>
          </a:p>
          <a:p>
            <a:r>
              <a:rPr lang="en-US" dirty="0"/>
              <a:t>File contents truncated and new text written.</a:t>
            </a:r>
          </a:p>
          <a:p>
            <a:endParaRPr lang="en-US" dirty="0"/>
          </a:p>
          <a:p>
            <a:r>
              <a:rPr lang="en-US" dirty="0"/>
              <a:t>Reading file with </a:t>
            </a:r>
            <a:r>
              <a:rPr lang="en-US" dirty="0" err="1"/>
              <a:t>ios</a:t>
            </a:r>
            <a:r>
              <a:rPr lang="en-US" dirty="0"/>
              <a:t>::in:</a:t>
            </a:r>
          </a:p>
          <a:p>
            <a:r>
              <a:rPr lang="en-US" dirty="0"/>
              <a:t>Old contents deleted. New text with </a:t>
            </a:r>
            <a:r>
              <a:rPr lang="en-US" dirty="0" err="1"/>
              <a:t>ios</a:t>
            </a:r>
            <a:r>
              <a:rPr lang="en-US" dirty="0"/>
              <a:t>::</a:t>
            </a:r>
            <a:r>
              <a:rPr lang="en-US" dirty="0" err="1"/>
              <a:t>trunc</a:t>
            </a:r>
            <a:r>
              <a:rPr lang="en-US" dirty="0"/>
              <a:t>.</a:t>
            </a:r>
          </a:p>
          <a:p>
            <a:endParaRPr lang="en-US" dirty="0"/>
          </a:p>
          <a:p>
            <a:r>
              <a:rPr lang="en-US" dirty="0"/>
              <a:t>Reading file after </a:t>
            </a:r>
            <a:r>
              <a:rPr lang="en-US" dirty="0" err="1"/>
              <a:t>ios</a:t>
            </a:r>
            <a:r>
              <a:rPr lang="en-US" dirty="0"/>
              <a:t>::ate:</a:t>
            </a:r>
          </a:p>
          <a:p>
            <a:r>
              <a:rPr lang="en-US" dirty="0"/>
              <a:t>Old contents deleted. New text with </a:t>
            </a:r>
            <a:r>
              <a:rPr lang="en-US" dirty="0" err="1"/>
              <a:t>ios</a:t>
            </a:r>
            <a:r>
              <a:rPr lang="en-US" dirty="0"/>
              <a:t>::</a:t>
            </a:r>
            <a:r>
              <a:rPr lang="en-US" dirty="0" err="1"/>
              <a:t>trunc</a:t>
            </a:r>
            <a:r>
              <a:rPr lang="en-US" dirty="0"/>
              <a:t>.</a:t>
            </a:r>
          </a:p>
          <a:p>
            <a:endParaRPr lang="en-US" dirty="0"/>
          </a:p>
          <a:p>
            <a:r>
              <a:rPr lang="en-US" dirty="0"/>
              <a:t>Added using </a:t>
            </a:r>
            <a:r>
              <a:rPr lang="en-US" dirty="0" err="1"/>
              <a:t>ios</a:t>
            </a:r>
            <a:r>
              <a:rPr lang="en-US" dirty="0"/>
              <a:t>::ate (write at end).</a:t>
            </a:r>
          </a:p>
          <a:p>
            <a:endParaRPr lang="en-US" dirty="0"/>
          </a:p>
          <a:p>
            <a:r>
              <a:rPr lang="en-US" dirty="0"/>
              <a:t>--------------------------------</a:t>
            </a:r>
          </a:p>
          <a:p>
            <a:r>
              <a:rPr lang="en-US" dirty="0"/>
              <a:t>Process exited after 0.4464 seconds with return value 0</a:t>
            </a:r>
          </a:p>
          <a:p>
            <a:r>
              <a:rPr lang="en-US" dirty="0"/>
              <a:t>Press any key to continue . . .</a:t>
            </a:r>
          </a:p>
        </p:txBody>
      </p:sp>
    </p:spTree>
    <p:extLst>
      <p:ext uri="{BB962C8B-B14F-4D97-AF65-F5344CB8AC3E}">
        <p14:creationId xmlns:p14="http://schemas.microsoft.com/office/powerpoint/2010/main" val="12884621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35846"/>
            <a:ext cx="8458200" cy="4247317"/>
          </a:xfrm>
          <a:prstGeom prst="rect">
            <a:avLst/>
          </a:prstGeom>
        </p:spPr>
        <p:txBody>
          <a:bodyPr wrap="square">
            <a:spAutoFit/>
          </a:bodyPr>
          <a:lstStyle/>
          <a:p>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Binary </a:t>
            </a:r>
            <a:r>
              <a:rPr lang="en-US" b="1" dirty="0" smtClean="0">
                <a:latin typeface="Times New Roman" pitchFamily="18" charset="0"/>
                <a:cs typeface="Times New Roman" pitchFamily="18" charset="0"/>
              </a:rPr>
              <a:t>Mode:</a:t>
            </a:r>
            <a:endParaRPr lang="en-US"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When you open a file in binary mode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 the file is treated as a sequence of raw bytes.</a:t>
            </a:r>
          </a:p>
          <a:p>
            <a:pPr marL="285750" indent="-285750">
              <a:buFont typeface="Arial" pitchFamily="34" charset="0"/>
              <a:buChar char="•"/>
            </a:pPr>
            <a:r>
              <a:rPr lang="en-US" dirty="0">
                <a:latin typeface="Times New Roman" pitchFamily="18" charset="0"/>
                <a:cs typeface="Times New Roman" pitchFamily="18" charset="0"/>
              </a:rPr>
              <a:t>Nothing is interpreted, translated, or modified by the system.</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By default (without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 C++ files are opened in text mode.</a:t>
            </a:r>
          </a:p>
          <a:p>
            <a:endParaRPr lang="en-US" dirty="0">
              <a:latin typeface="Times New Roman" pitchFamily="18" charset="0"/>
              <a:cs typeface="Times New Roman" pitchFamily="18" charset="0"/>
            </a:endParaRPr>
          </a:p>
          <a:p>
            <a:r>
              <a:rPr lang="en-US" b="1" dirty="0" smtClean="0">
                <a:latin typeface="Times New Roman" pitchFamily="18" charset="0"/>
                <a:cs typeface="Times New Roman" pitchFamily="18" charset="0"/>
              </a:rPr>
              <a:t>Use of Binary Mode:</a:t>
            </a:r>
            <a:endParaRPr lang="en-US" b="1" dirty="0">
              <a:latin typeface="Times New Roman" pitchFamily="18" charset="0"/>
              <a:cs typeface="Times New Roman" pitchFamily="18" charset="0"/>
            </a:endParaRPr>
          </a:p>
          <a:p>
            <a:pPr marL="285750" indent="-285750">
              <a:buFont typeface="Arial" pitchFamily="34" charset="0"/>
              <a:buChar char="•"/>
            </a:pPr>
            <a:r>
              <a:rPr lang="en-US" dirty="0">
                <a:latin typeface="Times New Roman" pitchFamily="18" charset="0"/>
                <a:cs typeface="Times New Roman" pitchFamily="18" charset="0"/>
              </a:rPr>
              <a:t>Efficiency – Writing raw bytes is faster than converting to text.</a:t>
            </a:r>
          </a:p>
          <a:p>
            <a:pPr marL="285750" indent="-285750">
              <a:buFont typeface="Arial" pitchFamily="34" charset="0"/>
              <a:buChar char="•"/>
            </a:pPr>
            <a:r>
              <a:rPr lang="en-US" dirty="0">
                <a:latin typeface="Times New Roman" pitchFamily="18" charset="0"/>
                <a:cs typeface="Times New Roman" pitchFamily="18" charset="0"/>
              </a:rPr>
              <a:t>Exact Storage – Data stored exactly as in memory, no formatting issues.</a:t>
            </a:r>
          </a:p>
          <a:p>
            <a:pPr marL="285750" indent="-285750">
              <a:buFont typeface="Arial" pitchFamily="34" charset="0"/>
              <a:buChar char="•"/>
            </a:pPr>
            <a:r>
              <a:rPr lang="en-US" dirty="0">
                <a:latin typeface="Times New Roman" pitchFamily="18" charset="0"/>
                <a:cs typeface="Times New Roman" pitchFamily="18" charset="0"/>
              </a:rPr>
              <a:t>Compact – Binary takes fewer bytes than text.</a:t>
            </a:r>
          </a:p>
          <a:p>
            <a:pPr marL="285750" indent="-285750">
              <a:buFont typeface="Arial" pitchFamily="34" charset="0"/>
              <a:buChar char="•"/>
            </a:pPr>
            <a:r>
              <a:rPr lang="en-US" dirty="0">
                <a:latin typeface="Times New Roman" pitchFamily="18" charset="0"/>
                <a:cs typeface="Times New Roman" pitchFamily="18" charset="0"/>
              </a:rPr>
              <a:t>Example: 12345 as text takes 5 bytes ('1' '2' '3' '4' '5').</a:t>
            </a:r>
          </a:p>
          <a:p>
            <a:pPr marL="285750" indent="-285750">
              <a:buFont typeface="Arial" pitchFamily="34" charset="0"/>
              <a:buChar char="•"/>
            </a:pPr>
            <a:r>
              <a:rPr lang="en-US" dirty="0">
                <a:latin typeface="Times New Roman" pitchFamily="18" charset="0"/>
                <a:cs typeface="Times New Roman" pitchFamily="18" charset="0"/>
              </a:rPr>
              <a:t>As binary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it takes 4 bytes.</a:t>
            </a:r>
          </a:p>
          <a:p>
            <a:pPr marL="285750" indent="-285750">
              <a:buFont typeface="Arial" pitchFamily="34" charset="0"/>
              <a:buChar char="•"/>
            </a:pPr>
            <a:r>
              <a:rPr lang="en-US" dirty="0">
                <a:latin typeface="Times New Roman" pitchFamily="18" charset="0"/>
                <a:cs typeface="Times New Roman" pitchFamily="18" charset="0"/>
              </a:rPr>
              <a:t>Complex Data – You can store arrays, structures, objects directly.</a:t>
            </a:r>
          </a:p>
        </p:txBody>
      </p:sp>
    </p:spTree>
    <p:extLst>
      <p:ext uri="{BB962C8B-B14F-4D97-AF65-F5344CB8AC3E}">
        <p14:creationId xmlns:p14="http://schemas.microsoft.com/office/powerpoint/2010/main" val="26836611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35068"/>
            <a:ext cx="8686800" cy="6740307"/>
          </a:xfrm>
          <a:prstGeom prst="rect">
            <a:avLst/>
          </a:prstGeom>
        </p:spPr>
        <p:txBody>
          <a:bodyPr wrap="square">
            <a:spAutoFit/>
          </a:bodyPr>
          <a:lstStyle/>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num</a:t>
            </a:r>
            <a:r>
              <a:rPr lang="en-US" dirty="0">
                <a:latin typeface="Times New Roman" pitchFamily="18" charset="0"/>
                <a:cs typeface="Times New Roman" pitchFamily="18" charset="0"/>
              </a:rPr>
              <a:t> = 12345;</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 Write in binary mode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bout("</a:t>
            </a:r>
            <a:r>
              <a:rPr lang="en-US" dirty="0" err="1">
                <a:latin typeface="Times New Roman" pitchFamily="18" charset="0"/>
                <a:cs typeface="Times New Roman" pitchFamily="18" charset="0"/>
              </a:rPr>
              <a:t>data.bin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bout.write</a:t>
            </a:r>
            <a:r>
              <a:rPr lang="en-US" dirty="0">
                <a:latin typeface="Times New Roman" pitchFamily="18" charset="0"/>
                <a:cs typeface="Times New Roman" pitchFamily="18" charset="0"/>
              </a:rPr>
              <a:t>((char*)&amp;</a:t>
            </a:r>
            <a:r>
              <a:rPr lang="en-US" dirty="0" err="1">
                <a:latin typeface="Times New Roman" pitchFamily="18" charset="0"/>
                <a:cs typeface="Times New Roman" pitchFamily="18" charset="0"/>
              </a:rPr>
              <a:t>num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sizeof</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num</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bout.close</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"Number written in binary file.\n";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 Read in binary mode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bin("</a:t>
            </a:r>
            <a:r>
              <a:rPr lang="en-US" dirty="0" err="1">
                <a:latin typeface="Times New Roman" pitchFamily="18" charset="0"/>
                <a:cs typeface="Times New Roman" pitchFamily="18" charset="0"/>
              </a:rPr>
              <a:t>data.bin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readNum</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bin.read</a:t>
            </a: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char*)&amp;</a:t>
            </a:r>
            <a:r>
              <a:rPr lang="en-US" dirty="0" err="1">
                <a:latin typeface="Times New Roman" pitchFamily="18" charset="0"/>
                <a:cs typeface="Times New Roman" pitchFamily="18" charset="0"/>
              </a:rPr>
              <a:t>readNum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sizeof</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readNum</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bin.close</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"Number read from file: " &lt;&lt; </a:t>
            </a:r>
            <a:r>
              <a:rPr lang="en-US" dirty="0" err="1">
                <a:latin typeface="Times New Roman" pitchFamily="18" charset="0"/>
                <a:cs typeface="Times New Roman" pitchFamily="18" charset="0"/>
              </a:rPr>
              <a:t>readNum</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p:txBody>
      </p:sp>
      <p:sp>
        <p:nvSpPr>
          <p:cNvPr id="3" name="TextBox 2"/>
          <p:cNvSpPr txBox="1"/>
          <p:nvPr/>
        </p:nvSpPr>
        <p:spPr>
          <a:xfrm>
            <a:off x="5029200" y="1600200"/>
            <a:ext cx="3962399" cy="923330"/>
          </a:xfrm>
          <a:prstGeom prst="rect">
            <a:avLst/>
          </a:prstGeom>
          <a:noFill/>
        </p:spPr>
        <p:txBody>
          <a:bodyPr wrap="square" rtlCol="0">
            <a:spAutoFit/>
          </a:bodyPr>
          <a:lstStyle/>
          <a:p>
            <a:r>
              <a:rPr lang="en-US" dirty="0" smtClean="0"/>
              <a:t>//output</a:t>
            </a:r>
          </a:p>
          <a:p>
            <a:r>
              <a:rPr lang="en-US" dirty="0" smtClean="0"/>
              <a:t>Number </a:t>
            </a:r>
            <a:r>
              <a:rPr lang="en-US" dirty="0"/>
              <a:t>written in binary file.</a:t>
            </a:r>
          </a:p>
          <a:p>
            <a:r>
              <a:rPr lang="en-US" dirty="0"/>
              <a:t>Number read from file: 12345</a:t>
            </a:r>
          </a:p>
        </p:txBody>
      </p:sp>
    </p:spTree>
    <p:extLst>
      <p:ext uri="{BB962C8B-B14F-4D97-AF65-F5344CB8AC3E}">
        <p14:creationId xmlns:p14="http://schemas.microsoft.com/office/powerpoint/2010/main" val="18678140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950036" cy="7017306"/>
          </a:xfrm>
          <a:prstGeom prst="rect">
            <a:avLst/>
          </a:prstGeom>
        </p:spPr>
        <p:txBody>
          <a:bodyPr wrap="square">
            <a:spAutoFit/>
          </a:bodyPr>
          <a:lstStyle/>
          <a:p>
            <a:r>
              <a:rPr lang="en-US" b="1" dirty="0">
                <a:latin typeface="Times New Roman" pitchFamily="18" charset="0"/>
                <a:cs typeface="Times New Roman" pitchFamily="18" charset="0"/>
              </a:rPr>
              <a:t>1. &amp;number</a:t>
            </a:r>
          </a:p>
          <a:p>
            <a:r>
              <a:rPr lang="en-US" dirty="0" smtClean="0">
                <a:latin typeface="Times New Roman" pitchFamily="18" charset="0"/>
                <a:cs typeface="Times New Roman" pitchFamily="18" charset="0"/>
              </a:rPr>
              <a:t>number </a:t>
            </a:r>
            <a:r>
              <a:rPr lang="en-US" dirty="0">
                <a:latin typeface="Times New Roman" pitchFamily="18" charset="0"/>
                <a:cs typeface="Times New Roman" pitchFamily="18" charset="0"/>
              </a:rPr>
              <a:t>is an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(e.g., 12345).</a:t>
            </a:r>
          </a:p>
          <a:p>
            <a:r>
              <a:rPr lang="en-US" dirty="0" smtClean="0">
                <a:latin typeface="Times New Roman" pitchFamily="18" charset="0"/>
                <a:cs typeface="Times New Roman" pitchFamily="18" charset="0"/>
              </a:rPr>
              <a:t>&amp;</a:t>
            </a:r>
            <a:r>
              <a:rPr lang="en-US" dirty="0">
                <a:latin typeface="Times New Roman" pitchFamily="18" charset="0"/>
                <a:cs typeface="Times New Roman" pitchFamily="18" charset="0"/>
              </a:rPr>
              <a:t>number gives the address of that variable in memory.</a:t>
            </a:r>
          </a:p>
          <a:p>
            <a:r>
              <a:rPr lang="en-US" dirty="0" smtClean="0">
                <a:latin typeface="Times New Roman" pitchFamily="18" charset="0"/>
                <a:cs typeface="Times New Roman" pitchFamily="18" charset="0"/>
              </a:rPr>
              <a:t>Example</a:t>
            </a:r>
            <a:r>
              <a:rPr lang="en-US" dirty="0">
                <a:latin typeface="Times New Roman" pitchFamily="18" charset="0"/>
                <a:cs typeface="Times New Roman" pitchFamily="18" charset="0"/>
              </a:rPr>
              <a:t>: if number is stored at memory location 0x61FE14, then &amp;number = 0x61FE14.</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2. (char*)&amp;number</a:t>
            </a:r>
          </a:p>
          <a:p>
            <a:r>
              <a:rPr lang="en-US" dirty="0" err="1" smtClean="0">
                <a:latin typeface="Times New Roman" pitchFamily="18" charset="0"/>
                <a:cs typeface="Times New Roman" pitchFamily="18" charset="0"/>
              </a:rPr>
              <a:t>ofstream</a:t>
            </a:r>
            <a:r>
              <a:rPr lang="en-US" dirty="0">
                <a:latin typeface="Times New Roman" pitchFamily="18" charset="0"/>
                <a:cs typeface="Times New Roman" pitchFamily="18" charset="0"/>
              </a:rPr>
              <a:t>::write needs a </a:t>
            </a:r>
            <a:r>
              <a:rPr lang="en-US" dirty="0" err="1">
                <a:latin typeface="Times New Roman" pitchFamily="18" charset="0"/>
                <a:cs typeface="Times New Roman" pitchFamily="18" charset="0"/>
              </a:rPr>
              <a:t>const</a:t>
            </a:r>
            <a:r>
              <a:rPr lang="en-US" dirty="0">
                <a:latin typeface="Times New Roman" pitchFamily="18" charset="0"/>
                <a:cs typeface="Times New Roman" pitchFamily="18" charset="0"/>
              </a:rPr>
              <a:t> char* pointer (i.e., a pointer to a sequence of bytes).</a:t>
            </a:r>
          </a:p>
          <a:p>
            <a:r>
              <a:rPr lang="en-US" dirty="0" smtClean="0">
                <a:latin typeface="Times New Roman" pitchFamily="18" charset="0"/>
                <a:cs typeface="Times New Roman" pitchFamily="18" charset="0"/>
              </a:rPr>
              <a:t>But </a:t>
            </a:r>
            <a:r>
              <a:rPr lang="en-US" dirty="0">
                <a:latin typeface="Times New Roman" pitchFamily="18" charset="0"/>
                <a:cs typeface="Times New Roman" pitchFamily="18" charset="0"/>
              </a:rPr>
              <a:t>&amp;number is an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(pointer to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So </a:t>
            </a:r>
            <a:r>
              <a:rPr lang="en-US" dirty="0">
                <a:latin typeface="Times New Roman" pitchFamily="18" charset="0"/>
                <a:cs typeface="Times New Roman" pitchFamily="18" charset="0"/>
              </a:rPr>
              <a:t>we typecast it to (char*) — meaning:</a:t>
            </a:r>
          </a:p>
          <a:p>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Treat the address of this integer as the address of a block of bytes."</a:t>
            </a: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allows C++ to access the raw bytes that make up the integer.</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3. </a:t>
            </a:r>
            <a:r>
              <a:rPr lang="en-US" b="1" dirty="0" err="1">
                <a:latin typeface="Times New Roman" pitchFamily="18" charset="0"/>
                <a:cs typeface="Times New Roman" pitchFamily="18" charset="0"/>
              </a:rPr>
              <a:t>sizeof</a:t>
            </a:r>
            <a:r>
              <a:rPr lang="en-US" b="1" dirty="0">
                <a:latin typeface="Times New Roman" pitchFamily="18" charset="0"/>
                <a:cs typeface="Times New Roman" pitchFamily="18" charset="0"/>
              </a:rPr>
              <a:t>(number)</a:t>
            </a:r>
          </a:p>
          <a:p>
            <a:r>
              <a:rPr lang="en-US" dirty="0" err="1" smtClean="0">
                <a:latin typeface="Times New Roman" pitchFamily="18" charset="0"/>
                <a:cs typeface="Times New Roman" pitchFamily="18" charset="0"/>
              </a:rPr>
              <a:t>sizeof</a:t>
            </a:r>
            <a:r>
              <a:rPr lang="en-US" dirty="0" smtClean="0">
                <a:latin typeface="Times New Roman" pitchFamily="18" charset="0"/>
                <a:cs typeface="Times New Roman" pitchFamily="18" charset="0"/>
              </a:rPr>
              <a:t>(number</a:t>
            </a:r>
            <a:r>
              <a:rPr lang="en-US" dirty="0">
                <a:latin typeface="Times New Roman" pitchFamily="18" charset="0"/>
                <a:cs typeface="Times New Roman" pitchFamily="18" charset="0"/>
              </a:rPr>
              <a:t>) = number of bytes in an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(commonly 4 bytes).</a:t>
            </a: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tells write how many bytes to copy from memory into the file.</a:t>
            </a:r>
          </a:p>
          <a:p>
            <a:r>
              <a:rPr lang="en-US" dirty="0" smtClean="0">
                <a:latin typeface="Times New Roman" pitchFamily="18" charset="0"/>
                <a:cs typeface="Times New Roman" pitchFamily="18" charset="0"/>
              </a:rPr>
              <a:t>So</a:t>
            </a:r>
            <a:r>
              <a:rPr lang="en-US" dirty="0">
                <a:latin typeface="Times New Roman" pitchFamily="18" charset="0"/>
                <a:cs typeface="Times New Roman" pitchFamily="18" charset="0"/>
              </a:rPr>
              <a:t>, if number = 12345, its binary representation in memory might be:</a:t>
            </a:r>
          </a:p>
          <a:p>
            <a:r>
              <a:rPr lang="en-US" dirty="0" smtClean="0">
                <a:latin typeface="Times New Roman" pitchFamily="18" charset="0"/>
                <a:cs typeface="Times New Roman" pitchFamily="18" charset="0"/>
              </a:rPr>
              <a:t>0x39 </a:t>
            </a:r>
            <a:r>
              <a:rPr lang="en-US" dirty="0">
                <a:latin typeface="Times New Roman" pitchFamily="18" charset="0"/>
                <a:cs typeface="Times New Roman" pitchFamily="18" charset="0"/>
              </a:rPr>
              <a:t>0x30 0x00 </a:t>
            </a:r>
            <a:r>
              <a:rPr lang="en-US" dirty="0" err="1">
                <a:latin typeface="Times New Roman" pitchFamily="18" charset="0"/>
                <a:cs typeface="Times New Roman" pitchFamily="18" charset="0"/>
              </a:rPr>
              <a:t>0x00</a:t>
            </a:r>
            <a:r>
              <a:rPr lang="en-US" dirty="0">
                <a:latin typeface="Times New Roman" pitchFamily="18" charset="0"/>
                <a:cs typeface="Times New Roman" pitchFamily="18" charset="0"/>
              </a:rPr>
              <a:t>   (on little-endian systems like most PCs)</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That’s </a:t>
            </a:r>
            <a:r>
              <a:rPr lang="en-US" dirty="0">
                <a:latin typeface="Times New Roman" pitchFamily="18" charset="0"/>
                <a:cs typeface="Times New Roman" pitchFamily="18" charset="0"/>
              </a:rPr>
              <a:t>what gets stored in the file — not the characters '1' '2' '3' '4' '5'.</a:t>
            </a:r>
          </a:p>
          <a:p>
            <a:r>
              <a:rPr lang="en-US" b="1" dirty="0" smtClean="0">
                <a:latin typeface="Times New Roman" pitchFamily="18" charset="0"/>
                <a:cs typeface="Times New Roman" pitchFamily="18" charset="0"/>
              </a:rPr>
              <a:t>4</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bout.write</a:t>
            </a:r>
            <a:r>
              <a:rPr lang="en-US" b="1" dirty="0">
                <a:latin typeface="Times New Roman" pitchFamily="18" charset="0"/>
                <a:cs typeface="Times New Roman" pitchFamily="18" charset="0"/>
              </a:rPr>
              <a:t>(...)</a:t>
            </a:r>
          </a:p>
          <a:p>
            <a:r>
              <a:rPr lang="en-US" dirty="0" smtClean="0">
                <a:latin typeface="Times New Roman" pitchFamily="18" charset="0"/>
                <a:cs typeface="Times New Roman" pitchFamily="18" charset="0"/>
              </a:rPr>
              <a:t>Copies </a:t>
            </a:r>
            <a:r>
              <a:rPr lang="en-US" dirty="0">
                <a:latin typeface="Times New Roman" pitchFamily="18" charset="0"/>
                <a:cs typeface="Times New Roman" pitchFamily="18" charset="0"/>
              </a:rPr>
              <a:t>those 4 raw bytes into </a:t>
            </a:r>
            <a:r>
              <a:rPr lang="en-US" dirty="0" err="1" smtClean="0">
                <a:latin typeface="Times New Roman" pitchFamily="18" charset="0"/>
                <a:cs typeface="Times New Roman" pitchFamily="18" charset="0"/>
              </a:rPr>
              <a:t>data.bin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file now holds the binary encoding of 12345.</a:t>
            </a:r>
          </a:p>
          <a:p>
            <a:r>
              <a:rPr lang="en-US" dirty="0" smtClean="0">
                <a:latin typeface="Times New Roman" pitchFamily="18" charset="0"/>
                <a:cs typeface="Times New Roman" pitchFamily="18" charset="0"/>
              </a:rPr>
              <a:t>So </a:t>
            </a:r>
            <a:r>
              <a:rPr lang="en-US" dirty="0">
                <a:latin typeface="Times New Roman" pitchFamily="18" charset="0"/>
                <a:cs typeface="Times New Roman" pitchFamily="18" charset="0"/>
              </a:rPr>
              <a:t>the line means:</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"Take the 4 raw bytes of the integer number from memory and write them directly into the file."</a:t>
            </a:r>
          </a:p>
        </p:txBody>
      </p:sp>
    </p:spTree>
    <p:extLst>
      <p:ext uri="{BB962C8B-B14F-4D97-AF65-F5344CB8AC3E}">
        <p14:creationId xmlns:p14="http://schemas.microsoft.com/office/powerpoint/2010/main" val="28824981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62276"/>
            <a:ext cx="8763000" cy="6740307"/>
          </a:xfrm>
          <a:prstGeom prst="rect">
            <a:avLst/>
          </a:prstGeom>
        </p:spPr>
        <p:txBody>
          <a:bodyPr wrap="square">
            <a:spAutoFit/>
          </a:bodyPr>
          <a:lstStyle/>
          <a:p>
            <a:r>
              <a:rPr lang="en-US" b="1" dirty="0">
                <a:latin typeface="Times New Roman" pitchFamily="18" charset="0"/>
                <a:cs typeface="Times New Roman" pitchFamily="18" charset="0"/>
              </a:rPr>
              <a:t>Examples of File Stream </a:t>
            </a:r>
            <a:r>
              <a:rPr lang="en-US" b="1" dirty="0" smtClean="0">
                <a:latin typeface="Times New Roman" pitchFamily="18" charset="0"/>
                <a:cs typeface="Times New Roman" pitchFamily="18" charset="0"/>
              </a:rPr>
              <a:t>Usage:</a:t>
            </a:r>
            <a:endParaRPr lang="en-US" b="1" dirty="0">
              <a:latin typeface="Times New Roman" pitchFamily="18" charset="0"/>
              <a:cs typeface="Times New Roman" pitchFamily="18" charset="0"/>
            </a:endParaRPr>
          </a:p>
          <a:p>
            <a:r>
              <a:rPr lang="en-US" dirty="0" smtClean="0">
                <a:latin typeface="Times New Roman" pitchFamily="18" charset="0"/>
                <a:cs typeface="Times New Roman" pitchFamily="18" charset="0"/>
              </a:rPr>
              <a:t>Example </a:t>
            </a:r>
            <a:r>
              <a:rPr lang="en-US" dirty="0">
                <a:latin typeface="Times New Roman" pitchFamily="18" charset="0"/>
                <a:cs typeface="Times New Roman" pitchFamily="18" charset="0"/>
              </a:rPr>
              <a:t>1: Writing to a File (</a:t>
            </a:r>
            <a:r>
              <a:rPr lang="en-US" dirty="0" err="1">
                <a:latin typeface="Times New Roman" pitchFamily="18" charset="0"/>
                <a:cs typeface="Times New Roman" pitchFamily="18" charset="0"/>
              </a:rPr>
              <a:t>ofstream</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("example.txt"); // open file for writing</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if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"File not created!"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1;</a:t>
            </a:r>
          </a:p>
          <a:p>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&lt;&lt; "Hello, C++ File Handling!"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&lt;&lt; "This is an example of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fout.close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"Data written to file successfully."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//Creates </a:t>
            </a:r>
            <a:r>
              <a:rPr lang="en-US" dirty="0">
                <a:latin typeface="Times New Roman" pitchFamily="18" charset="0"/>
                <a:cs typeface="Times New Roman" pitchFamily="18" charset="0"/>
              </a:rPr>
              <a:t>example.txt and writes content.</a:t>
            </a:r>
          </a:p>
        </p:txBody>
      </p:sp>
    </p:spTree>
    <p:extLst>
      <p:ext uri="{BB962C8B-B14F-4D97-AF65-F5344CB8AC3E}">
        <p14:creationId xmlns:p14="http://schemas.microsoft.com/office/powerpoint/2010/main" val="1068466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7346"/>
            <a:ext cx="8458200" cy="6463308"/>
          </a:xfrm>
          <a:prstGeom prst="rect">
            <a:avLst/>
          </a:prstGeom>
        </p:spPr>
        <p:txBody>
          <a:bodyPr wrap="square">
            <a:spAutoFit/>
          </a:bodyPr>
          <a:lstStyle/>
          <a:p>
            <a:r>
              <a:rPr lang="en-US" b="1" dirty="0">
                <a:latin typeface="Times New Roman" pitchFamily="18" charset="0"/>
                <a:cs typeface="Times New Roman" pitchFamily="18" charset="0"/>
              </a:rPr>
              <a:t>Example 2: Reading from a File (</a:t>
            </a:r>
            <a:r>
              <a:rPr lang="en-US" b="1" dirty="0" err="1">
                <a:latin typeface="Times New Roman" pitchFamily="18" charset="0"/>
                <a:cs typeface="Times New Roman" pitchFamily="18" charset="0"/>
              </a:rPr>
              <a:t>ifstream</a:t>
            </a:r>
            <a:r>
              <a:rPr lang="en-US" b="1" dirty="0" smtClean="0">
                <a:latin typeface="Times New Roman" pitchFamily="18" charset="0"/>
                <a:cs typeface="Times New Roman" pitchFamily="18" charset="0"/>
              </a:rPr>
              <a:t>)</a:t>
            </a:r>
          </a:p>
          <a:p>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fin("example.txt"); // open file for reading</a:t>
            </a:r>
          </a:p>
          <a:p>
            <a:r>
              <a:rPr lang="en-US" dirty="0">
                <a:latin typeface="Times New Roman" pitchFamily="18" charset="0"/>
                <a:cs typeface="Times New Roman" pitchFamily="18" charset="0"/>
              </a:rPr>
              <a:t>    string line;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if (!fin)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"File not found!"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1;</a:t>
            </a:r>
          </a:p>
          <a:p>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"Reading from file:"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while (</a:t>
            </a:r>
            <a:r>
              <a:rPr lang="en-US" dirty="0" err="1">
                <a:latin typeface="Times New Roman" pitchFamily="18" charset="0"/>
                <a:cs typeface="Times New Roman" pitchFamily="18" charset="0"/>
              </a:rPr>
              <a:t>getline</a:t>
            </a:r>
            <a:r>
              <a:rPr lang="en-US" dirty="0">
                <a:latin typeface="Times New Roman" pitchFamily="18" charset="0"/>
                <a:cs typeface="Times New Roman" pitchFamily="18" charset="0"/>
              </a:rPr>
              <a:t>(fin, line))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line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fin.close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241539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182" y="152400"/>
            <a:ext cx="8839200" cy="7294305"/>
          </a:xfrm>
          <a:prstGeom prst="rect">
            <a:avLst/>
          </a:prstGeom>
        </p:spPr>
        <p:txBody>
          <a:bodyPr wrap="square">
            <a:spAutoFit/>
          </a:bodyPr>
          <a:lstStyle/>
          <a:p>
            <a:r>
              <a:rPr lang="en-US" b="1" dirty="0">
                <a:latin typeface="Times New Roman" pitchFamily="18" charset="0"/>
                <a:cs typeface="Times New Roman" pitchFamily="18" charset="0"/>
              </a:rPr>
              <a:t>Example 3: Reading + Writing (</a:t>
            </a:r>
            <a:r>
              <a:rPr lang="en-US" b="1" dirty="0" err="1">
                <a:latin typeface="Times New Roman" pitchFamily="18" charset="0"/>
                <a:cs typeface="Times New Roman" pitchFamily="18" charset="0"/>
              </a:rPr>
              <a:t>fstream</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file("data.txt",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 |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trunc</a:t>
            </a:r>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    if </a:t>
            </a:r>
            <a:r>
              <a:rPr lang="en-US" dirty="0">
                <a:latin typeface="Times New Roman" pitchFamily="18" charset="0"/>
                <a:cs typeface="Times New Roman" pitchFamily="18" charset="0"/>
              </a:rPr>
              <a:t>(!file)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"File could not be opened!"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1;</a:t>
            </a:r>
          </a:p>
          <a:p>
            <a:r>
              <a:rPr lang="en-US" dirty="0">
                <a:latin typeface="Times New Roman" pitchFamily="18" charset="0"/>
                <a:cs typeface="Times New Roman" pitchFamily="18" charset="0"/>
              </a:rPr>
              <a:t>    }</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Write data</a:t>
            </a:r>
          </a:p>
          <a:p>
            <a:r>
              <a:rPr lang="en-US" dirty="0">
                <a:latin typeface="Times New Roman" pitchFamily="18" charset="0"/>
                <a:cs typeface="Times New Roman" pitchFamily="18" charset="0"/>
              </a:rPr>
              <a:t>    file &lt;&lt; "C++ File Handling Example"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file &lt;&lt; "Using </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 class."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Reset pointer to beginning</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file.seekg</a:t>
            </a:r>
            <a:r>
              <a:rPr lang="en-US" dirty="0">
                <a:latin typeface="Times New Roman" pitchFamily="18" charset="0"/>
                <a:cs typeface="Times New Roman" pitchFamily="18" charset="0"/>
              </a:rPr>
              <a:t>(0);</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Read data</a:t>
            </a:r>
          </a:p>
          <a:p>
            <a:r>
              <a:rPr lang="en-US" dirty="0">
                <a:latin typeface="Times New Roman" pitchFamily="18" charset="0"/>
                <a:cs typeface="Times New Roman" pitchFamily="18" charset="0"/>
              </a:rPr>
              <a:t>    string line;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"File contents:"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while (</a:t>
            </a:r>
            <a:r>
              <a:rPr lang="en-US" dirty="0" err="1">
                <a:latin typeface="Times New Roman" pitchFamily="18" charset="0"/>
                <a:cs typeface="Times New Roman" pitchFamily="18" charset="0"/>
              </a:rPr>
              <a:t>getline</a:t>
            </a:r>
            <a:r>
              <a:rPr lang="en-US" dirty="0">
                <a:latin typeface="Times New Roman" pitchFamily="18" charset="0"/>
                <a:cs typeface="Times New Roman" pitchFamily="18" charset="0"/>
              </a:rPr>
              <a:t>(file, line))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line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file.close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4274564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1" y="152400"/>
            <a:ext cx="8839200" cy="6186309"/>
          </a:xfrm>
          <a:prstGeom prst="rect">
            <a:avLst/>
          </a:prstGeom>
        </p:spPr>
        <p:txBody>
          <a:bodyPr wrap="square">
            <a:spAutoFit/>
          </a:bodyPr>
          <a:lstStyle/>
          <a:p>
            <a:r>
              <a:rPr lang="en-US" b="1" dirty="0">
                <a:latin typeface="Times New Roman" pitchFamily="18" charset="0"/>
                <a:cs typeface="Times New Roman" pitchFamily="18" charset="0"/>
              </a:rPr>
              <a:t>Example 4: Append </a:t>
            </a:r>
            <a:r>
              <a:rPr lang="en-US" b="1" dirty="0" smtClean="0">
                <a:latin typeface="Times New Roman" pitchFamily="18" charset="0"/>
                <a:cs typeface="Times New Roman" pitchFamily="18" charset="0"/>
              </a:rPr>
              <a:t>Mode :</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iostream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fstream</a:t>
            </a:r>
            <a:r>
              <a:rPr lang="en-US" dirty="0">
                <a:latin typeface="Times New Roman" pitchFamily="18" charset="0"/>
                <a:cs typeface="Times New Roman" pitchFamily="18" charset="0"/>
              </a:rPr>
              <a:t>&gt;</a:t>
            </a:r>
          </a:p>
          <a:p>
            <a:r>
              <a:rPr lang="en-US" dirty="0">
                <a:latin typeface="Times New Roman" pitchFamily="18" charset="0"/>
                <a:cs typeface="Times New Roman" pitchFamily="18" charset="0"/>
              </a:rPr>
              <a:t>using namespace </a:t>
            </a:r>
            <a:r>
              <a:rPr lang="en-US" dirty="0" err="1">
                <a:latin typeface="Times New Roman" pitchFamily="18" charset="0"/>
                <a:cs typeface="Times New Roman" pitchFamily="18" charset="0"/>
              </a:rPr>
              <a:t>std</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ofstream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("log.txt",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::app); // open in append mode</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a:t>
            </a:r>
            <a:r>
              <a:rPr lang="en-US" dirty="0">
                <a:latin typeface="Times New Roman" pitchFamily="18" charset="0"/>
                <a:cs typeface="Times New Roman" pitchFamily="18" charset="0"/>
              </a:rPr>
              <a:t> &lt;&lt; "New log entry."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fout.close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"Log entry added."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return 0;</a:t>
            </a:r>
          </a:p>
          <a:p>
            <a:r>
              <a:rPr lang="en-US" dirty="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285750" indent="-285750">
              <a:buFont typeface="Arial" pitchFamily="34" charset="0"/>
              <a:buChar char="•"/>
            </a:pPr>
            <a:r>
              <a:rPr lang="en-US" dirty="0" err="1">
                <a:latin typeface="Times New Roman" pitchFamily="18" charset="0"/>
                <a:cs typeface="Times New Roman" pitchFamily="18" charset="0"/>
              </a:rPr>
              <a:t>ifstream</a:t>
            </a:r>
            <a:r>
              <a:rPr lang="en-US" dirty="0">
                <a:latin typeface="Times New Roman" pitchFamily="18" charset="0"/>
                <a:cs typeface="Times New Roman" pitchFamily="18" charset="0"/>
              </a:rPr>
              <a:t> → Reading from file.</a:t>
            </a:r>
          </a:p>
          <a:p>
            <a:pPr marL="285750" indent="-285750">
              <a:buFont typeface="Arial" pitchFamily="34" charset="0"/>
              <a:buChar char="•"/>
            </a:pPr>
            <a:r>
              <a:rPr lang="en-US" dirty="0" err="1" smtClean="0">
                <a:latin typeface="Times New Roman" pitchFamily="18" charset="0"/>
                <a:cs typeface="Times New Roman" pitchFamily="18" charset="0"/>
              </a:rPr>
              <a:t>ofstream</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Writing to file.</a:t>
            </a:r>
          </a:p>
          <a:p>
            <a:pPr marL="285750" indent="-285750">
              <a:buFont typeface="Arial" pitchFamily="34" charset="0"/>
              <a:buChar char="•"/>
            </a:pPr>
            <a:r>
              <a:rPr lang="en-US" dirty="0" err="1" smtClean="0">
                <a:latin typeface="Times New Roman" pitchFamily="18" charset="0"/>
                <a:cs typeface="Times New Roman" pitchFamily="18" charset="0"/>
              </a:rPr>
              <a:t>fstream</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Both read &amp; write.</a:t>
            </a:r>
          </a:p>
          <a:p>
            <a:pPr marL="285750" indent="-285750">
              <a:buFont typeface="Arial" pitchFamily="34" charset="0"/>
              <a:buChar char="•"/>
            </a:pPr>
            <a:r>
              <a:rPr lang="en-US" dirty="0" smtClean="0">
                <a:latin typeface="Times New Roman" pitchFamily="18" charset="0"/>
                <a:cs typeface="Times New Roman" pitchFamily="18" charset="0"/>
              </a:rPr>
              <a:t>Modes </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::in,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::out,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::app,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::binary, etc.</a:t>
            </a:r>
          </a:p>
          <a:p>
            <a:pPr marL="285750" indent="-285750">
              <a:buFont typeface="Arial" pitchFamily="34" charset="0"/>
              <a:buChar char="•"/>
            </a:pPr>
            <a:r>
              <a:rPr lang="en-US" dirty="0" smtClean="0">
                <a:latin typeface="Times New Roman" pitchFamily="18" charset="0"/>
                <a:cs typeface="Times New Roman" pitchFamily="18" charset="0"/>
              </a:rPr>
              <a:t>Always </a:t>
            </a:r>
            <a:r>
              <a:rPr lang="en-US" dirty="0">
                <a:latin typeface="Times New Roman" pitchFamily="18" charset="0"/>
                <a:cs typeface="Times New Roman" pitchFamily="18" charset="0"/>
              </a:rPr>
              <a:t>close the file after use.</a:t>
            </a:r>
          </a:p>
          <a:p>
            <a:pPr marL="285750" indent="-285750">
              <a:buFont typeface="Arial" pitchFamily="34" charset="0"/>
              <a:buChar char="•"/>
            </a:pPr>
            <a:r>
              <a:rPr lang="en-US" dirty="0" err="1" smtClean="0">
                <a:latin typeface="Times New Roman" pitchFamily="18" charset="0"/>
                <a:cs typeface="Times New Roman" pitchFamily="18" charset="0"/>
              </a:rPr>
              <a:t>getline</a:t>
            </a:r>
            <a:r>
              <a:rPr lang="en-US" dirty="0">
                <a:latin typeface="Times New Roman" pitchFamily="18" charset="0"/>
                <a:cs typeface="Times New Roman" pitchFamily="18" charset="0"/>
              </a:rPr>
              <a:t>() is useful for reading full lines.</a:t>
            </a:r>
          </a:p>
          <a:p>
            <a:pPr marL="285750" indent="-285750">
              <a:buFont typeface="Arial" pitchFamily="34" charset="0"/>
              <a:buChar char="•"/>
            </a:pPr>
            <a:r>
              <a:rPr lang="en-US" dirty="0" err="1" smtClean="0">
                <a:latin typeface="Times New Roman" pitchFamily="18" charset="0"/>
                <a:cs typeface="Times New Roman" pitchFamily="18" charset="0"/>
              </a:rPr>
              <a:t>seekg</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seekp</a:t>
            </a:r>
            <a:r>
              <a:rPr lang="en-US" dirty="0">
                <a:latin typeface="Times New Roman" pitchFamily="18" charset="0"/>
                <a:cs typeface="Times New Roman" pitchFamily="18" charset="0"/>
              </a:rPr>
              <a:t>() move the file pointer (for random access).</a:t>
            </a:r>
          </a:p>
        </p:txBody>
      </p:sp>
    </p:spTree>
    <p:extLst>
      <p:ext uri="{BB962C8B-B14F-4D97-AF65-F5344CB8AC3E}">
        <p14:creationId xmlns:p14="http://schemas.microsoft.com/office/powerpoint/2010/main" val="1165020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838</TotalTime>
  <Words>5669</Words>
  <Application>Microsoft Office PowerPoint</Application>
  <PresentationFormat>On-screen Show (4:3)</PresentationFormat>
  <Paragraphs>957</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Unit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dc:title>
  <dc:creator>Sonali</dc:creator>
  <cp:lastModifiedBy>DELL</cp:lastModifiedBy>
  <cp:revision>60</cp:revision>
  <dcterms:created xsi:type="dcterms:W3CDTF">2006-08-16T00:00:00Z</dcterms:created>
  <dcterms:modified xsi:type="dcterms:W3CDTF">2025-09-25T09:08:33Z</dcterms:modified>
</cp:coreProperties>
</file>